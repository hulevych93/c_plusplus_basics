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очаток" id="{7b9675a3-f08d-0022-54c9-56900230ad72}">
          <p14:sldIdLst>
            <p14:sldId id="256"/>
            <p14:sldId id="257"/>
            <p14:sldId id="258"/>
          </p14:sldIdLst>
        </p14:section>
        <p14:section name="Ідея" id="{edc1fa59-6b9e-54c1-798d-f0a0ba30f220}">
          <p14:sldIdLst>
            <p14:sldId id="259"/>
            <p14:sldId id="260"/>
          </p14:sldIdLst>
        </p14:section>
        <p14:section name="Умови в коді" id="{44447080-574f-1cb3-69bc-c022cea13534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Задача тижня" id="{d103c54b-1c36-2b98-f4bd-c6a781a35e43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початку: три опитування в Teams створені (тексти в нотатках слайдів «Peer Instruction», «Передбачте» і «Вихідний квиток»), VS Code відкритий на порожньому 01_if_else.cpp, шрифт 22+.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більше 5 хвилин. Показати типовий розв'язок «Решти» на тесті 0.80 1: він дає 19 копійок. Запитати зал, чому, — це перевірка того, чи засвоїлось заняття 2. Потім одна відповідь на найчастіше «найменш зрозуміле» з вихідного квитка. Якщо на питання квитка правильно відповіли менше 70%, приділити обрізанню й округленню ще 2 хвилини.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секунд. Нагадати правило опитувань: голосувати до запуску, помилятися можна.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Намалювати розвилку на папері або в Paint, якщо зручніше. Запитати зал: що буде з балом рівно 60? Відповідь залежить від того, ≥ чи &gt; у питанні. Це перший натяк на межі.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Набирати поступово: спершу тільки if, запустити з 75 і з 40 — у другому випадку нічого не виводиться. Потім додати else. Далі задачі 3a–3c, 2–3 хвилини на кожну: хто встиг — «+» у чат. У 3b запитати: що виведе перевірка n % 2 == 1 для −3? Відповідь — even, бо остача від'ємного числа в C++ від'ємна. Тому правильна перевірка — n % 2 ==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читати таблицю вголос. Зупинитися лише на &gt;= і на ==. Одразу після цього слайда — Peer Instruction про = і ==.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 питання заняття, близько 6 хвилин. Правильна — A, ten. x = 10 записує 10 у x, і вираз має значення 10, а будь-яке ненульове число — це «правда». Після першого голосування результат НЕ показувати. 30–70% правильних — обговорення в чаті й повторне голосування. Більше 70% — пояснити й рухатися. Менше 30% — пояснити ще раз без обговорення. Одразу після — задача 3f: та сама помилка, яку треба знайти. Показати попередження компілятора з -Wall.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Правильна — B, pass. Комп'ютер іде згори вниз і зупиняється на першій правдивій умові. 95 ≥ 60 — правда, до другої гілки справа не доходить. Далі demo/02_else_if.cpp: правильний порядок, від найсуворішої умови до найм'якшої. Задача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3d. Попросити зал запропонувати тести: зазвичай назвуть 95, 75, 40. Показати, що межі 90 і 60 важливіші — саме там помиляються з &gt; і &gt;=.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Допуск −40…60 °C — той самий, що в серії вимірювань Python-курсу. Задача 3e. Пастка «-40 &lt;= t &lt;= 60» корисна для старших: вираз рахується як (-40 &lt;= t) &lt;= 60, тобто 0 або 1 &lt;= 60 — завжди правда. Показати наживо, якщо є 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Нагадати: рівень можна міняти щотижня. У «Днях у місяці» тест 2 1900 — пастка: 1900 ділиться на 4, але не високосний. Пов'язати з Zune: це задача рівно про ту межу, на якій зависли плеєри.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Найважливіші 10 хвилин для новачків. Спершу разом псевдокод. Наголосити: перевірка на invalid — першою, інакше 105 отримає A. Пауза 3 хвилини: «напишіть ці рядки в себе й перевірте на 95 і на 105». Хто встиг — «+» у чат.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Опитування: варіанти A) OK · B) OUT · C) OKOUT · D) помилка компіляції. Правильна — B. Якщо правильних менше 70%, заняття 4 починається з 5 хвилин про &amp;&amp; і ||. Друге питання — «найменш зрозуміле»: відповісти на найчастіше на початку заняття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Заняття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Програма вибирає шлях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if, else і логічні операції — і чому тестувати треба на межах</a:t>
            </a:r>
            <a:endParaRPr lang="en-US" sz="1800" dirty="0"/>
          </a:p>
        </p:txBody>
      </p:sp>
      <p:sp>
        <p:nvSpPr>
          <p:cNvPr id="5" name="chip"/>
          <p:cNvSpPr/>
          <p:nvPr/>
        </p:nvSpPr>
        <p:spPr>
          <a:xfrm>
            <a:off x="612648" y="4572000"/>
            <a:ext cx="1274445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4572000"/>
            <a:ext cx="12744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 хвилин</a:t>
            </a:r>
            <a:endParaRPr lang="en-US" sz="1300" dirty="0"/>
          </a:p>
        </p:txBody>
      </p:sp>
      <p:sp>
        <p:nvSpPr>
          <p:cNvPr id="7" name="chip"/>
          <p:cNvSpPr/>
          <p:nvPr/>
        </p:nvSpPr>
        <p:spPr>
          <a:xfrm>
            <a:off x="2069973" y="4572000"/>
            <a:ext cx="172847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9973" y="4572000"/>
            <a:ext cx="1728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два опитування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3981323" y="4572000"/>
            <a:ext cx="281813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81323" y="4572000"/>
            <a:ext cx="2818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задача тижня у двох рівнях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ПОВЕРНЕННЯ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показала задача тижня 2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5 хвилин на найчастішу помилку й на питання з вихідного квитка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949440" cy="1792224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949440" cy="179222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«Решта», типовий розв'язок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kop = static_cast&lt;int&gt;((paid - price) * 100);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0.80 1  -&gt;  0 грн 19 коп   замість 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 long kop = std::lround((paid - price) * 100);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0.80 1  -&gt;  0 грн 20 коп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36408" y="1920240"/>
            <a:ext cx="3749040" cy="1599184"/>
          </a:xfrm>
          <a:prstGeom prst="roundRect">
            <a:avLst>
              <a:gd name="adj" fmla="val 5718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7836408" y="1920240"/>
            <a:ext cx="3749040" cy="159918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Обрізання губить копійку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(1 − 0.80) × 100 у пам'яті трохи менше за 20. static_cast відкидає дробову частину — і залишається 19.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836408" y="3702304"/>
            <a:ext cx="3749040" cy="1355344"/>
          </a:xfrm>
          <a:prstGeom prst="roundRect">
            <a:avLst>
              <a:gd name="adj" fmla="val 674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7836408" y="3702304"/>
            <a:ext cx="3749040" cy="13553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Найменш зрозуміле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Тут — відповідь на найчастіше питання з вихідного квитка заняття 2.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СЬОГОДНІ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Одна ідея за 60 хвилин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Коротко пояснюю — ви передбачаєте — запускаємо — пояснюємо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612648" y="1920240"/>
            <a:ext cx="170688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card-text"/>
          <p:cNvSpPr txBox="1"/>
          <p:nvPr/>
        </p:nvSpPr>
        <p:spPr>
          <a:xfrm>
            <a:off x="612648" y="1920240"/>
            <a:ext cx="1706880" cy="1051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0–5 хв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Повернення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502408" y="1920240"/>
            <a:ext cx="1706880" cy="1095248"/>
          </a:xfrm>
          <a:prstGeom prst="roundRect">
            <a:avLst>
              <a:gd name="adj" fmla="val 834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2502408" y="1920240"/>
            <a:ext cx="1706880" cy="10952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5–10 хв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Задача з життя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92168" y="1920240"/>
            <a:ext cx="3413760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4392168" y="1920240"/>
            <a:ext cx="3413760" cy="1051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10–40 хв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Умови в коді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988808" y="1920240"/>
            <a:ext cx="1706880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2" name="card-text"/>
          <p:cNvSpPr txBox="1"/>
          <p:nvPr/>
        </p:nvSpPr>
        <p:spPr>
          <a:xfrm>
            <a:off x="7988808" y="1920240"/>
            <a:ext cx="1706880" cy="1051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40–55 хв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Задача тижня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878568" y="1920240"/>
            <a:ext cx="1706880" cy="1095248"/>
          </a:xfrm>
          <a:prstGeom prst="roundRect">
            <a:avLst>
              <a:gd name="adj" fmla="val 834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card-text"/>
          <p:cNvSpPr txBox="1"/>
          <p:nvPr/>
        </p:nvSpPr>
        <p:spPr>
          <a:xfrm>
            <a:off x="9878568" y="1920240"/>
            <a:ext cx="1706880" cy="10952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55–60 хв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Вихідний квиток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" y="3246120"/>
            <a:ext cx="10972800" cy="1111504"/>
          </a:xfrm>
          <a:prstGeom prst="roundRect">
            <a:avLst>
              <a:gd name="adj" fmla="val 8227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6" name="card-text"/>
          <p:cNvSpPr txBox="1"/>
          <p:nvPr/>
        </p:nvSpPr>
        <p:spPr>
          <a:xfrm>
            <a:off x="612648" y="3246120"/>
            <a:ext cx="1097280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Як працюємо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Перед кожним запуском коду — опитування в Teams: що виведе програма? Неправильна відповідь — нормально. Саме на ній найкраще видно, як думає комп'ютер.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ЗАДАЧА З ЖИТТЯ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31 грудня 2008 року плеєри Zune 30 зависли по всьому світу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Драйвер годинника рахував дні й дійшов до 366-го дня високосного року. Умова days &gt; 366 була хибною, а гілки для рівно 366 у коді не було — і програма крутилася на місці.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Microsoft порадила дочекатися, поки сяде батарея, і ввімкнути плеєр 1 січня. Джерела: PCWorld, 31 грудня 2008; блог Microsoft Learn.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ІДЕЯ БЕЗ КОДУ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Розвилка: програма йде лише одним шляхом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Умова — це питання, на яке є лише дві відповіді: так або ні</a:t>
            </a:r>
            <a:endParaRPr lang="en-US" sz="1500" dirty="0"/>
          </a:p>
        </p:txBody>
      </p:sp>
      <p:sp>
        <p:nvSpPr>
          <p:cNvPr id="5" name="question"/>
          <p:cNvSpPr/>
          <p:nvPr/>
        </p:nvSpPr>
        <p:spPr>
          <a:xfrm>
            <a:off x="612648" y="2560320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12648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 ≥ 60 ?</a:t>
            </a:r>
            <a:endParaRPr lang="en-US" sz="2200" dirty="0"/>
          </a:p>
        </p:txBody>
      </p:sp>
      <p:sp>
        <p:nvSpPr>
          <p:cNvPr id="7" name="branch-Passed"/>
          <p:cNvSpPr/>
          <p:nvPr/>
        </p:nvSpPr>
        <p:spPr>
          <a:xfrm>
            <a:off x="5367528" y="2011680"/>
            <a:ext cx="2377440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7528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endParaRPr lang="en-US" sz="2000" dirty="0"/>
          </a:p>
        </p:txBody>
      </p:sp>
      <p:sp>
        <p:nvSpPr>
          <p:cNvPr id="9" name="arrow-Passed"/>
          <p:cNvSpPr/>
          <p:nvPr/>
        </p:nvSpPr>
        <p:spPr>
          <a:xfrm flipV="1">
            <a:off x="3538728" y="2286000"/>
            <a:ext cx="1828800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133088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так</a:t>
            </a:r>
            <a:endParaRPr lang="en-US" sz="1400" dirty="0"/>
          </a:p>
        </p:txBody>
      </p:sp>
      <p:sp>
        <p:nvSpPr>
          <p:cNvPr id="11" name="branch-Failed"/>
          <p:cNvSpPr/>
          <p:nvPr/>
        </p:nvSpPr>
        <p:spPr>
          <a:xfrm>
            <a:off x="5367528" y="3429000"/>
            <a:ext cx="237744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67528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2000" dirty="0"/>
          </a:p>
        </p:txBody>
      </p:sp>
      <p:sp>
        <p:nvSpPr>
          <p:cNvPr id="13" name="arrow-Failed"/>
          <p:cNvSpPr/>
          <p:nvPr/>
        </p:nvSpPr>
        <p:spPr>
          <a:xfrm>
            <a:off x="3538728" y="2971800"/>
            <a:ext cx="1828800" cy="7315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33088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ні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293608" y="1920240"/>
            <a:ext cx="3291840" cy="1355344"/>
          </a:xfrm>
          <a:prstGeom prst="roundRect">
            <a:avLst>
              <a:gd name="adj" fmla="val 674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card-text"/>
          <p:cNvSpPr txBox="1"/>
          <p:nvPr/>
        </p:nvSpPr>
        <p:spPr>
          <a:xfrm>
            <a:off x="8293608" y="1920240"/>
            <a:ext cx="3291840" cy="13553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Рівно одна гілка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Програма ніколи не йде обома шляхами одразу і не зупиняється на розвилці.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8293608" y="3458464"/>
            <a:ext cx="3291840" cy="1599184"/>
          </a:xfrm>
          <a:prstGeom prst="roundRect">
            <a:avLst>
              <a:gd name="adj" fmla="val 5718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8" name="card-text"/>
          <p:cNvSpPr txBox="1"/>
          <p:nvPr/>
        </p:nvSpPr>
        <p:spPr>
          <a:xfrm>
            <a:off x="8293608" y="3458464"/>
            <a:ext cx="3291840" cy="159918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Кожен випадок має гілку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Якщо для якоїсь відповіді гілки немає, програма не здогадається, що робити. Як із Zune.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IF І ELSE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Якщо умова правдива — один блок, інакше — інший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1 · файл demo/01_if_else.cpp · задачі 3a–3c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675120" cy="2930144"/>
          </a:xfrm>
          <a:prstGeom prst="roundRect">
            <a:avLst>
              <a:gd name="adj" fmla="val 24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675120" cy="29301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score = 0;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std::cin &gt;&gt; score;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(score &gt;= 60) 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"Passed\n";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else 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"Failed\n";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 passed = score &gt;= 60;   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1 або 0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7562088" y="1920240"/>
            <a:ext cx="4023360" cy="1355344"/>
          </a:xfrm>
          <a:prstGeom prst="roundRect">
            <a:avLst>
              <a:gd name="adj" fmla="val 674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7562088" y="1920240"/>
            <a:ext cx="4023360" cy="13553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Умова — у круглих дужках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Блок, що виконується, — у фігурних. Після if крапка з комою не ставиться.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562088" y="3458464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7562088" y="3458464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Порівняння — це значення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score &gt;= 60 дає 1 або 0. Його можна зберегти в змінну типу bool.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ПОРІВНЯННЯ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Шість операторів порівняння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Подвійне == порівнює, одинарне = записує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92024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8288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Оператор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Значення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Приклад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Результат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більше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&gt; 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менше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&lt; 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більше або дорівнює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 &gt;= 60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менше або дорівнює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 &lt;= 60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дорівнює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== 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не дорівнює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!= 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8202168" y="1920240"/>
            <a:ext cx="3383280" cy="2194560"/>
          </a:xfrm>
          <a:prstGeom prst="roundRect">
            <a:avLst>
              <a:gd name="adj" fmla="val 416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7" name="card-text"/>
          <p:cNvSpPr txBox="1"/>
          <p:nvPr/>
        </p:nvSpPr>
        <p:spPr>
          <a:xfrm>
            <a:off x="8202168" y="1920240"/>
            <a:ext cx="3383280" cy="2194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= замість ==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(n = 0) не порівнює, а записує 0 у n. Програма компілюється, але працює неправильно. Компілятор із -Wall попереджає — читайте попередження.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PEER INSTRUCTION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виведе програма?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Код компілюється. Уважно до кожного символу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10972800" cy="120700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x = 5;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(x = 10) std::cout &lt;&lt; "ten";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        std::cout &lt;&lt; "not ten";</a:t>
            </a:r>
            <a:endParaRPr lang="en-US" sz="1800" dirty="0"/>
          </a:p>
        </p:txBody>
      </p:sp>
      <p:sp>
        <p:nvSpPr>
          <p:cNvPr id="7" name="option-A"/>
          <p:cNvSpPr/>
          <p:nvPr/>
        </p:nvSpPr>
        <p:spPr>
          <a:xfrm>
            <a:off x="612648" y="335584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letter-A"/>
          <p:cNvSpPr/>
          <p:nvPr/>
        </p:nvSpPr>
        <p:spPr>
          <a:xfrm>
            <a:off x="740664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3558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</a:t>
            </a:r>
            <a:endParaRPr lang="en-US" sz="2000" dirty="0"/>
          </a:p>
        </p:txBody>
      </p:sp>
      <p:sp>
        <p:nvSpPr>
          <p:cNvPr id="11" name="option-B"/>
          <p:cNvSpPr/>
          <p:nvPr/>
        </p:nvSpPr>
        <p:spPr>
          <a:xfrm>
            <a:off x="6190488" y="335584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letter-B"/>
          <p:cNvSpPr/>
          <p:nvPr/>
        </p:nvSpPr>
        <p:spPr>
          <a:xfrm>
            <a:off x="6318504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850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3558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ten</a:t>
            </a:r>
            <a:endParaRPr lang="en-US" sz="2000" dirty="0"/>
          </a:p>
        </p:txBody>
      </p:sp>
      <p:sp>
        <p:nvSpPr>
          <p:cNvPr id="15" name="option-C"/>
          <p:cNvSpPr/>
          <p:nvPr/>
        </p:nvSpPr>
        <p:spPr>
          <a:xfrm>
            <a:off x="612648" y="421538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letter-C"/>
          <p:cNvSpPr/>
          <p:nvPr/>
        </p:nvSpPr>
        <p:spPr>
          <a:xfrm>
            <a:off x="740664" y="437997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2153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 компіляції</a:t>
            </a:r>
            <a:endParaRPr lang="en-US" sz="2000" dirty="0"/>
          </a:p>
        </p:txBody>
      </p:sp>
      <p:sp>
        <p:nvSpPr>
          <p:cNvPr id="19" name="option-D"/>
          <p:cNvSpPr/>
          <p:nvPr/>
        </p:nvSpPr>
        <p:spPr>
          <a:xfrm>
            <a:off x="6190488" y="421538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letter-D"/>
          <p:cNvSpPr/>
          <p:nvPr/>
        </p:nvSpPr>
        <p:spPr>
          <a:xfrm>
            <a:off x="6318504" y="437997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18504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42153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нічого</a:t>
            </a:r>
            <a:endParaRPr lang="en-US" sz="2000" dirty="0"/>
          </a:p>
        </p:txBody>
      </p:sp>
      <p:sp>
        <p:nvSpPr>
          <p:cNvPr id="23" name="card"/>
          <p:cNvSpPr/>
          <p:nvPr/>
        </p:nvSpPr>
        <p:spPr>
          <a:xfrm>
            <a:off x="612648" y="5202936"/>
            <a:ext cx="3535680" cy="536448"/>
          </a:xfrm>
          <a:prstGeom prst="roundRect">
            <a:avLst>
              <a:gd name="adj" fmla="val 1704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card-text"/>
          <p:cNvSpPr txBox="1"/>
          <p:nvPr/>
        </p:nvSpPr>
        <p:spPr>
          <a:xfrm>
            <a:off x="612648" y="5202936"/>
            <a:ext cx="3535680" cy="5364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хв — голосуєте самі, мовчки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4331208" y="5202936"/>
            <a:ext cx="3535680" cy="780288"/>
          </a:xfrm>
          <a:prstGeom prst="roundRect">
            <a:avLst>
              <a:gd name="adj" fmla="val 1171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6" name="card-text"/>
          <p:cNvSpPr txBox="1"/>
          <p:nvPr/>
        </p:nvSpPr>
        <p:spPr>
          <a:xfrm>
            <a:off x="4331208" y="5202936"/>
            <a:ext cx="3535680" cy="78028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хв — переконайте сусіда в чаті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8049768" y="5202936"/>
            <a:ext cx="3535680" cy="536448"/>
          </a:xfrm>
          <a:prstGeom prst="roundRect">
            <a:avLst>
              <a:gd name="adj" fmla="val 1704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8" name="card-text"/>
          <p:cNvSpPr txBox="1"/>
          <p:nvPr/>
        </p:nvSpPr>
        <p:spPr>
          <a:xfrm>
            <a:off x="8049768" y="5202936"/>
            <a:ext cx="3535680" cy="5364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хв — голосуємо ще раз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ПЕРЕДБАЧТЕ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виведе програма?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Голосуйте в опитуванні Teams — до запуску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1304544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10972800" cy="13045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score = 95;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(score &gt;= 60)      std::cout &lt;&lt; "pass";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 if (score &gt;= 90) std::cout &lt;&lt; "excellent";</a:t>
            </a:r>
            <a:endParaRPr lang="en-US" sz="2000" dirty="0"/>
          </a:p>
        </p:txBody>
      </p:sp>
      <p:sp>
        <p:nvSpPr>
          <p:cNvPr id="7" name="option-A"/>
          <p:cNvSpPr/>
          <p:nvPr/>
        </p:nvSpPr>
        <p:spPr>
          <a:xfrm>
            <a:off x="612648" y="354482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letter-A"/>
          <p:cNvSpPr/>
          <p:nvPr/>
        </p:nvSpPr>
        <p:spPr>
          <a:xfrm>
            <a:off x="740664" y="370941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" y="3709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54482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excellent</a:t>
            </a:r>
            <a:endParaRPr lang="en-US" sz="2000" dirty="0"/>
          </a:p>
        </p:txBody>
      </p:sp>
      <p:sp>
        <p:nvSpPr>
          <p:cNvPr id="11" name="option-B"/>
          <p:cNvSpPr/>
          <p:nvPr/>
        </p:nvSpPr>
        <p:spPr>
          <a:xfrm>
            <a:off x="6190488" y="354482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letter-B"/>
          <p:cNvSpPr/>
          <p:nvPr/>
        </p:nvSpPr>
        <p:spPr>
          <a:xfrm>
            <a:off x="6318504" y="370941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8504" y="3709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54482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2000" dirty="0"/>
          </a:p>
        </p:txBody>
      </p:sp>
      <p:sp>
        <p:nvSpPr>
          <p:cNvPr id="15" name="option-C"/>
          <p:cNvSpPr/>
          <p:nvPr/>
        </p:nvSpPr>
        <p:spPr>
          <a:xfrm>
            <a:off x="612648" y="440436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letter-C"/>
          <p:cNvSpPr/>
          <p:nvPr/>
        </p:nvSpPr>
        <p:spPr>
          <a:xfrm>
            <a:off x="740664" y="456895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" y="4568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4043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excellent</a:t>
            </a:r>
            <a:endParaRPr lang="en-US" sz="2000" dirty="0"/>
          </a:p>
        </p:txBody>
      </p:sp>
      <p:sp>
        <p:nvSpPr>
          <p:cNvPr id="19" name="option-D"/>
          <p:cNvSpPr/>
          <p:nvPr/>
        </p:nvSpPr>
        <p:spPr>
          <a:xfrm>
            <a:off x="6190488" y="440436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letter-D"/>
          <p:cNvSpPr/>
          <p:nvPr/>
        </p:nvSpPr>
        <p:spPr>
          <a:xfrm>
            <a:off x="6318504" y="456895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18504" y="4568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44043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нічого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ЛАНЦЮЖОК ELSE IF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Перша правдива умова — і решту не перевіряють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2 · файл demo/02_else_if.cpp · задача 3d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6751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675120" cy="23774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(score &gt;= 90) 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"excellent\n";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else if (score &gt;= 60) 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"pass\n";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else 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"fail\n";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7562088" y="1920240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7562088" y="1920240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Від найсуворішої до найм'якшої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Спершу ≥ 90, потім ≥ 60. Навпаки — і відмінник отримає pass.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562088" y="3214624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7562088" y="3214624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Тестуйте на межах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95 і 40 перевіряють мало. Помилки ховаються на 90, 89, 60 і 59.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ЛОГІЧНІ ОПЕРАЦІЇ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&amp;&amp; — обидві умови, || — хоча б одна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3 · файл demo/03_logic.cpp · задачі 3e і 3f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949440" cy="2767584"/>
          </a:xfrm>
          <a:prstGeom prst="roundRect">
            <a:avLst>
              <a:gd name="adj" fmla="val 264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949440" cy="276758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допуск датчика: від -40 до 60 °C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(t &gt;= -40 &amp;&amp; t &lt;= 60) 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"OK\n";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else 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"OUT\n";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(t &lt; -40 || t &gt; 60) { ... }   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те саме навпаки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 ok = t &gt;= -40 &amp;&amp; t &lt;= 60;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!ok;                 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! — заперечення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6408" y="192024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Операція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Читається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Правда, коли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і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обидві умови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або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хоча б одна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не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умова хибна</a:t>
                      </a:r>
                      <a:endParaRPr lang="en-US" sz="15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7836408" y="3977640"/>
            <a:ext cx="3749040" cy="1599184"/>
          </a:xfrm>
          <a:prstGeom prst="roundRect">
            <a:avLst>
              <a:gd name="adj" fmla="val 5718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9" name="card-text"/>
          <p:cNvSpPr txBox="1"/>
          <p:nvPr/>
        </p:nvSpPr>
        <p:spPr>
          <a:xfrm>
            <a:off x="7836408" y="3977640"/>
            <a:ext cx="3749040" cy="159918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Не пишіть -40 &lt;= t &lt;= 60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Так у C++ не працює: вираз компілюється, але рахує інше. Кожне порівняння — окремо, з'єднане через &amp;&amp;.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ЗАДАЧА ТИЖНЯ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Два рівні — оберіть свій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Дедлайн — початок заняття 4. Зараховується будь-який рівень</a:t>
            </a:r>
            <a:endParaRPr lang="en-US" sz="1500" dirty="0"/>
          </a:p>
        </p:txBody>
      </p:sp>
      <p:sp>
        <p:nvSpPr>
          <p:cNvPr id="5" name="pset-card"/>
          <p:cNvSpPr/>
          <p:nvPr/>
        </p:nvSpPr>
        <p:spPr>
          <a:xfrm>
            <a:off x="612648" y="1920240"/>
            <a:ext cx="5349240" cy="2240280"/>
          </a:xfrm>
          <a:prstGeom prst="roundRect">
            <a:avLst>
              <a:gd name="adj" fmla="val 40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ДЛЯ ТИХ, ХТО ПОЧИНАЄ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Шкала ECTS · task_3g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077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Бал від 0 до 100 → оцінка від A до F. Для балу поза межами — invalid.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  →  B</a:t>
            </a:r>
            <a:endParaRPr lang="en-US" sz="1500" dirty="0"/>
          </a:p>
        </p:txBody>
      </p:sp>
      <p:sp>
        <p:nvSpPr>
          <p:cNvPr id="10" name="pset-card"/>
          <p:cNvSpPr/>
          <p:nvPr/>
        </p:nvSpPr>
        <p:spPr>
          <a:xfrm>
            <a:off x="6236208" y="1920240"/>
            <a:ext cx="5349240" cy="2240280"/>
          </a:xfrm>
          <a:prstGeom prst="roundRect">
            <a:avLst>
              <a:gd name="adj" fmla="val 408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1031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ДЛЯ ТИХ, ХТО ВЖЕ ВМІЄ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Дні в місяці · task_3h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9077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Місяць і рік → кількість днів. Лютий залежить від того, чи рік високосний.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1900  →  28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12648" y="4434840"/>
            <a:ext cx="10972800" cy="1111504"/>
          </a:xfrm>
          <a:prstGeom prst="roundRect">
            <a:avLst>
              <a:gd name="adj" fmla="val 8227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6" name="card-text"/>
          <p:cNvSpPr txBox="1"/>
          <p:nvPr/>
        </p:nvSpPr>
        <p:spPr>
          <a:xfrm>
            <a:off x="612648" y="4434840"/>
            <a:ext cx="1097280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Як знати, що розв'язок правильний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Кожна умова має таблицю тестів. Програма правильна, коли її вивід збігається з очікуваним посимвольно — для кожного рядка таблиці.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ПОЧНІМО РАЗОМ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Перший крок задачі «Шкала ECTS»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Спершу кроки словами, потім код</a:t>
            </a:r>
            <a:endParaRPr lang="en-US" sz="1500" dirty="0"/>
          </a:p>
        </p:txBody>
      </p:sp>
      <p:sp>
        <p:nvSpPr>
          <p:cNvPr id="5" name="pseudo-panel"/>
          <p:cNvSpPr/>
          <p:nvPr/>
        </p:nvSpPr>
        <p:spPr>
          <a:xfrm>
            <a:off x="612648" y="1920240"/>
            <a:ext cx="457200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Псевдокод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87168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зчитати бал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якщо поза межами 0–100 — invalid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інакше перевіряти межі від A вниз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вивести першу оцінку, що підійшла</a:t>
            </a:r>
            <a:endParaRPr lang="en-US" sz="1500" dirty="0"/>
          </a:p>
        </p:txBody>
      </p:sp>
      <p:sp>
        <p:nvSpPr>
          <p:cNvPr id="8" name="code-panel"/>
          <p:cNvSpPr/>
          <p:nvPr/>
        </p:nvSpPr>
        <p:spPr>
          <a:xfrm>
            <a:off x="5458968" y="1920240"/>
            <a:ext cx="6126480" cy="2670048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5458968" y="1920240"/>
            <a:ext cx="6126480" cy="26700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score = 0;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std::cin &gt;&gt; score;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 (score &lt; 0 || score &gt; 100) 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"invalid\n";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else if (score &gt;= 90) 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"A\n";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далі — самостійно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ВИХІДНИЙ КВИТОК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Два питання, анонімно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Відповіді визначають, з чого почнеться наступне заняття</a:t>
            </a:r>
            <a:endParaRPr lang="en-US" sz="1500" dirty="0"/>
          </a:p>
        </p:txBody>
      </p:sp>
      <p:sp>
        <p:nvSpPr>
          <p:cNvPr id="5" name="q1"/>
          <p:cNvSpPr/>
          <p:nvPr/>
        </p:nvSpPr>
        <p:spPr>
          <a:xfrm>
            <a:off x="612648" y="1920240"/>
            <a:ext cx="5349240" cy="1691640"/>
          </a:xfrm>
          <a:prstGeom prst="roundRect">
            <a:avLst>
              <a:gd name="adj" fmla="val 540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· Що виведе програма?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14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 = 70;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 &gt;= -40 &amp;&amp; t &lt;= 60) std::cout &lt;&lt; "OK";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std::cout &lt;&lt; "OUT";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36208" y="1920240"/>
            <a:ext cx="5349240" cy="1691640"/>
          </a:xfrm>
          <a:prstGeom prst="roundRect">
            <a:avLst>
              <a:gd name="adj" fmla="val 5405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9" name="card-text"/>
          <p:cNvSpPr txBox="1"/>
          <p:nvPr/>
        </p:nvSpPr>
        <p:spPr>
          <a:xfrm>
            <a:off x="6236208" y="1920240"/>
            <a:ext cx="5349240" cy="16916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2 · Відкрите питання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Що сьогодні було найменш зрозумілим?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2648" y="3931920"/>
            <a:ext cx="10972800" cy="585216"/>
          </a:xfrm>
          <a:prstGeom prst="roundRect">
            <a:avLst>
              <a:gd name="adj" fmla="val 1562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1" name="card-text"/>
          <p:cNvSpPr txBox="1"/>
          <p:nvPr/>
        </p:nvSpPr>
        <p:spPr>
          <a:xfrm>
            <a:off x="612648" y="3931920"/>
            <a:ext cx="10972800" cy="585216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Наступне заняття: повторення замість копіювання — цикли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и C++">
  <a:themeElements>
    <a:clrScheme name="Основи C++">
      <a:dk1>
        <a:srgbClr val="172033"/>
      </a:dk1>
      <a:lt1>
        <a:srgbClr val="FFFFFF"/>
      </a:lt1>
      <a:dk2>
        <a:srgbClr val="5A677D"/>
      </a:dk2>
      <a:lt2>
        <a:srgbClr val="F7F9FC"/>
      </a:lt2>
      <a:accent1>
        <a:srgbClr val="2563EB"/>
      </a:accent1>
      <a:accent2>
        <a:srgbClr val="047857"/>
      </a:accent2>
      <a:accent3>
        <a:srgbClr val="B45309"/>
      </a:accent3>
      <a:accent4>
        <a:srgbClr val="6D28D9"/>
      </a:accent4>
      <a:accent5>
        <a:srgbClr val="1E40AF"/>
      </a:accent5>
      <a:accent6>
        <a:srgbClr val="D7DEE8"/>
      </a:accent6>
      <a:hlink>
        <a:srgbClr val="2563EB"/>
      </a:hlink>
      <a:folHlink>
        <a:srgbClr val="6D28D9"/>
      </a:folHlink>
    </a:clrScheme>
    <a:fontScheme name="Основи C++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· Заняття 3</dc:title>
  <dc:subject>PptxGenJS Presentation</dc:subject>
  <dc:creator>PptxGenJS</dc:creator>
  <cp:lastModifiedBy>PptxGenJS</cp:lastModifiedBy>
  <cp:revision>1</cp:revision>
  <dcterms:created xsi:type="dcterms:W3CDTF">2026-10-16T18:00:19Z</dcterms:created>
  <dcterms:modified xsi:type="dcterms:W3CDTF">2026-10-16T18:00:19Z</dcterms:modified>
</cp:coreProperties>
</file>