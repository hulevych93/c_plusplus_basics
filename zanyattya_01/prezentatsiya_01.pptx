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урс" id="{4664d5e2-76ac-3d0e-77e7-c29a9757210f}">
          <p14:sldIdLst>
            <p14:sldId id="256"/>
            <p14:sldId id="257"/>
            <p14:sldId id="258"/>
            <p14:sldId id="259"/>
          </p14:sldIdLst>
        </p14:section>
        <p14:section name="Ідея" id="{10e15b7c-8fc1-ba60-c6cf-4caa8848cf51}">
          <p14:sldIdLst>
            <p14:sldId id="260"/>
            <p14:sldId id="261"/>
            <p14:sldId id="262"/>
            <p14:sldId id="263"/>
          </p14:sldIdLst>
        </p14:section>
        <p14:section name="Цілі числа" id="{2bb3300c-2b64-3bc7-9e7b-e63b8e262b53}">
          <p14:sldIdLst>
            <p14:sldId id="264"/>
            <p14:sldId id="265"/>
            <p14:sldId id="266"/>
          </p14:sldIdLst>
        </p14:section>
        <p14:section name="Підсумок" id="{cb57ce6e-3cf6-868d-e118-678398550a45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Перше речення: «Досвід не потрібен. Більшість тут ніколи не програмувала — курс побудований саме під це».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Головне речення першого заняття. Сказати повільно. Наголосити на третій частині: уміння знаходити власні помилки — більша частина роботи програміста.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Пояснити ритм: на занятті ми лише запускаємо тему, навчання відбувається, коли ви самі пишете задачу тижня. Сильним одразу сказати, що поглиблений рівень — для 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читати таблицю вголос. Назвати три опорні точки: умови на третьому, цикли на четвертому, проєкт на дев'ятому.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Вправа на 3 хвилини: попросити зал написати в чат інструкцію «як зробити чай» для робота, який не знає нічого. Потім знайти в їхніх відповідях пропущені кроки: а кришку чайника відкрити? а воду вимкнути? Висновок: точність — головна вимога.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наживо: прибрати крапку з комою, запустити, прочитати повідомлення компілятора ВГОЛОС, повернути. Перша помилка має статися на екрані викладача, а не вдома в студента.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Набирати повільно, проговорюючи кожен символ. Стрілки &lt;&lt; показують напрямок: текст їде на екран. Зламати разом: прибрати ;, написати cOut — мова розрізняє великі й малі літери.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Правильна — B. Комп'ютер не додає ні пробілів, ні переходів рядка сам — лише там, де ви їх написали. Це перша ілюстрація ідеї заняття: виконується рівно те, що написано.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Головна несподіванка для тих, хто знає Excel: змінна не стежить за іншою. Запитати зал перед запуском: скільки виведе channels після зміни sensors?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заучувати діапазони — лише порядок: int до двох мільярдів. Межі показати через INT_MIN, INT_MAX і LLONG_MAX із &lt;climits&gt;.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запуском 7 / 2 запитати зал: що виведе? Більшість скаже 3.5. Це найкорисніша помилка заняття. Далі 365 днів — місток до задачі 1d.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Задачі йдуть за зростанням складності: три на вивід, остання — перше обчислення в змінній 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Закінчити на тому, що помилки — нормальна частина роботи, і непрацюючий код варто приносити, а не ховати.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Основи програмування на C++ · Заняття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965960"/>
            <a:ext cx="10972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Основи програмування на C++ · Заняття 1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2834640"/>
            <a:ext cx="109728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Основи програмування на C++ · Заняття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2834640"/>
            <a:ext cx="109728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Основи програмування на C++ · Заняття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Заняття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9659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Програма — це точні кроки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Перша програма, вивід на екран і цілі типи</a:t>
            </a:r>
            <a:endParaRPr lang="en-US" sz="1800" dirty="0"/>
          </a:p>
        </p:txBody>
      </p:sp>
      <p:sp>
        <p:nvSpPr>
          <p:cNvPr id="5" name="chip"/>
          <p:cNvSpPr/>
          <p:nvPr/>
        </p:nvSpPr>
        <p:spPr>
          <a:xfrm>
            <a:off x="612648" y="4572000"/>
            <a:ext cx="1274445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4572000"/>
            <a:ext cx="12744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60 хвилин</a:t>
            </a:r>
            <a:endParaRPr lang="en-US" sz="1300" dirty="0"/>
          </a:p>
        </p:txBody>
      </p:sp>
      <p:sp>
        <p:nvSpPr>
          <p:cNvPr id="7" name="chip"/>
          <p:cNvSpPr/>
          <p:nvPr/>
        </p:nvSpPr>
        <p:spPr>
          <a:xfrm>
            <a:off x="2069973" y="4572000"/>
            <a:ext cx="100203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69973" y="4572000"/>
            <a:ext cx="100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демо</a:t>
            </a:r>
            <a:endParaRPr lang="en-US" sz="1300" dirty="0"/>
          </a:p>
        </p:txBody>
      </p:sp>
      <p:sp>
        <p:nvSpPr>
          <p:cNvPr id="9" name="chip"/>
          <p:cNvSpPr/>
          <p:nvPr/>
        </p:nvSpPr>
        <p:spPr>
          <a:xfrm>
            <a:off x="3254883" y="4572000"/>
            <a:ext cx="2364105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4883" y="4572000"/>
            <a:ext cx="23641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 задачі для практики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МЕТА КУРСУ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3716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Навчитися розкладати задачу на кроки, записувати їх кодом і самостійно знаходити помилки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28346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Не вивчити весь C++ за дев'ять занять, а вийти з навичкою, яку можна розвивати в будь-якій мові.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ЯК ВЛАШТОВАНИЙ КУРС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Одне заняття на тиждень — і задача тижня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Заняття запускає навчання, задача тижня його завершує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612648" y="1920240"/>
            <a:ext cx="3535680" cy="1600200"/>
          </a:xfrm>
          <a:prstGeom prst="roundRect">
            <a:avLst>
              <a:gd name="adj" fmla="val 5714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card-text"/>
          <p:cNvSpPr txBox="1"/>
          <p:nvPr/>
        </p:nvSpPr>
        <p:spPr>
          <a:xfrm>
            <a:off x="612648" y="1920240"/>
            <a:ext cx="3535680" cy="16002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Заняття · 60 хв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Одна ідея. Перед кожним запуском коду ви передбачаєте результат і голосуєте в опитуванні.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4331208" y="1920240"/>
            <a:ext cx="3535680" cy="160020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8" name="card-text"/>
          <p:cNvSpPr txBox="1"/>
          <p:nvPr/>
        </p:nvSpPr>
        <p:spPr>
          <a:xfrm>
            <a:off x="4331208" y="1920240"/>
            <a:ext cx="3535680" cy="16002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Задача тижня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Два рівні: для тих, хто починає, і для тих, хто вже вміє. Кожна умова має таблицю тестів.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8049768" y="1920240"/>
            <a:ext cx="3535680" cy="1600200"/>
          </a:xfrm>
          <a:prstGeom prst="roundRect">
            <a:avLst>
              <a:gd name="adj" fmla="val 5714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0" name="card-text"/>
          <p:cNvSpPr txBox="1"/>
          <p:nvPr/>
        </p:nvSpPr>
        <p:spPr>
          <a:xfrm>
            <a:off x="8049768" y="1920240"/>
            <a:ext cx="3535680" cy="16002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Правило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Допомагати можна, здавати чуже — ні. Свій код ви можете пояснити рядок за рядком.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612648" y="3749040"/>
            <a:ext cx="10972800" cy="867664"/>
          </a:xfrm>
          <a:prstGeom prst="roundRect">
            <a:avLst>
              <a:gd name="adj" fmla="val 1053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2" name="card-text"/>
          <p:cNvSpPr txBox="1"/>
          <p:nvPr/>
        </p:nvSpPr>
        <p:spPr>
          <a:xfrm>
            <a:off x="612648" y="3749040"/>
            <a:ext cx="10972800" cy="86766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Що зараховується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 із 6 задач тижня і фінальний проєкт, який показуємо на останньому занятті.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ПРОГРАМА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Дев'ять занять, одна ідея на кожне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Кожне наступне спирається на попереднє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920240"/>
          <a:ext cx="10972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76072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№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Ідея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Що в C++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Програма — це точні кроки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вивід, змінні, цілі типи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Як комп'ютер ділить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/, %, cin, double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Програма вибирає шлях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/ else, логічні операції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Повторення замість копіювання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while, for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Великі задачі — з малих частин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функції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Дані зберігаються, щоб обробити двічі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vector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Текст — це теж числа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string, char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Алгоритм має ціну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пошук, заміри часу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Показ фінальних проєктів</a:t>
                      </a:r>
                      <a:endParaRPr lang="en-US" sz="14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ІДЕЯ БЕЗ КОДУ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13716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Комп'ютер виконує рівно те, що написано — і нічого більше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28346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«Зроби чай» людині зрозуміло. Комп'ютеру потрібні кроки: налити воду в чайник, увімкнути, дочекатися кипіння, налити в чашку, покласти пакетик.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Алгоритм — скінченна послідовність точних кроків. Програма — алгоритм, записаний мовою, яку розуміє комп'ютер.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ВІД ТЕКСТУ ДО ПРОГРАМИ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Компілятор перекладає код мовою процесора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Ви пишете текст — компілятор робить із нього програму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612648" y="1920240"/>
            <a:ext cx="3200400" cy="1143000"/>
          </a:xfrm>
          <a:prstGeom prst="roundRect">
            <a:avLst>
              <a:gd name="adj" fmla="val 8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card-text"/>
          <p:cNvSpPr txBox="1"/>
          <p:nvPr/>
        </p:nvSpPr>
        <p:spPr>
          <a:xfrm>
            <a:off x="612648" y="1920240"/>
            <a:ext cx="3200400" cy="11430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hello.cpp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Текст, який пише людина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92277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card"/>
          <p:cNvSpPr/>
          <p:nvPr/>
        </p:nvSpPr>
        <p:spPr>
          <a:xfrm>
            <a:off x="4498848" y="1920240"/>
            <a:ext cx="3200400" cy="1143000"/>
          </a:xfrm>
          <a:prstGeom prst="roundRect">
            <a:avLst>
              <a:gd name="adj" fmla="val 8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9" name="card-text"/>
          <p:cNvSpPr txBox="1"/>
          <p:nvPr/>
        </p:nvSpPr>
        <p:spPr>
          <a:xfrm>
            <a:off x="4498848" y="1920240"/>
            <a:ext cx="3200400" cy="11430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компілятор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Перевіряє код і перекладає його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80897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card"/>
          <p:cNvSpPr/>
          <p:nvPr/>
        </p:nvSpPr>
        <p:spPr>
          <a:xfrm>
            <a:off x="8385048" y="1920240"/>
            <a:ext cx="3200400" cy="1143000"/>
          </a:xfrm>
          <a:prstGeom prst="roundRect">
            <a:avLst>
              <a:gd name="adj" fmla="val 8000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2" name="card-text"/>
          <p:cNvSpPr txBox="1"/>
          <p:nvPr/>
        </p:nvSpPr>
        <p:spPr>
          <a:xfrm>
            <a:off x="8385048" y="1920240"/>
            <a:ext cx="3200400" cy="11430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програма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Машинний код, який виконує процесор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612648" y="3383280"/>
            <a:ext cx="10972800" cy="1111504"/>
          </a:xfrm>
          <a:prstGeom prst="roundRect">
            <a:avLst>
              <a:gd name="adj" fmla="val 8227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4" name="card-text"/>
          <p:cNvSpPr txBox="1"/>
          <p:nvPr/>
        </p:nvSpPr>
        <p:spPr>
          <a:xfrm>
            <a:off x="612648" y="3383280"/>
            <a:ext cx="1097280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Помилка компіляції — підказка, а не катастрофа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Компілятор показує номер рядка й причину. Програма не запуститься, доки помилку не виправлено — і це добре: краще зараз, ніж у роботі.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ПЕРША ПРОГРАМА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П'ять рядків, і кожен щось означає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Демо 1 · файл demo/01_hello.cpp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4572000" cy="2279904"/>
          </a:xfrm>
          <a:prstGeom prst="roundRect">
            <a:avLst>
              <a:gd name="adj" fmla="val 32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4572000" cy="22799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 &lt;iostream&gt;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main() 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std::cout &lt;&lt; "Hello\n";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 0;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1920240"/>
          <a:ext cx="6126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Рядок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Що означає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#include &lt;iostream&gt;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підключити інструменти виводу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main()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звідси починається програма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std::cout &lt;&lt;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вивести на екран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;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кінець команди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перейти на новий рядок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ПЕРЕДБАЧТЕ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Що виведе програма?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Голосуйте в опитуванні — до запуску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10972800" cy="1109472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10972800" cy="1109472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 &lt;&lt; "A";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 &lt;&lt; "B\n";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612648" y="3349752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letter-A"/>
          <p:cNvSpPr/>
          <p:nvPr/>
        </p:nvSpPr>
        <p:spPr>
          <a:xfrm>
            <a:off x="740664" y="35143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334975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</a:t>
            </a:r>
            <a:endParaRPr lang="en-US" sz="2000" dirty="0"/>
          </a:p>
        </p:txBody>
      </p:sp>
      <p:sp>
        <p:nvSpPr>
          <p:cNvPr id="11" name="option-B"/>
          <p:cNvSpPr/>
          <p:nvPr/>
        </p:nvSpPr>
        <p:spPr>
          <a:xfrm>
            <a:off x="6190488" y="3349752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letter-B"/>
          <p:cNvSpPr/>
          <p:nvPr/>
        </p:nvSpPr>
        <p:spPr>
          <a:xfrm>
            <a:off x="6318504" y="351434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18504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334975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endParaRPr lang="en-US" sz="2000" dirty="0"/>
          </a:p>
        </p:txBody>
      </p:sp>
      <p:sp>
        <p:nvSpPr>
          <p:cNvPr id="15" name="option-C"/>
          <p:cNvSpPr/>
          <p:nvPr/>
        </p:nvSpPr>
        <p:spPr>
          <a:xfrm>
            <a:off x="612648" y="4209288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letter-C"/>
          <p:cNvSpPr/>
          <p:nvPr/>
        </p:nvSpPr>
        <p:spPr>
          <a:xfrm>
            <a:off x="740664" y="4373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" y="4373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42092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і B у двох рядках</a:t>
            </a:r>
            <a:endParaRPr lang="en-US" sz="2000" dirty="0"/>
          </a:p>
        </p:txBody>
      </p:sp>
      <p:sp>
        <p:nvSpPr>
          <p:cNvPr id="19" name="option-D"/>
          <p:cNvSpPr/>
          <p:nvPr/>
        </p:nvSpPr>
        <p:spPr>
          <a:xfrm>
            <a:off x="6190488" y="4209288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letter-D"/>
          <p:cNvSpPr/>
          <p:nvPr/>
        </p:nvSpPr>
        <p:spPr>
          <a:xfrm>
            <a:off x="6318504" y="4373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18504" y="4373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42092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помилка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ЗМІННІ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Змінна — іменована комірка пам'яті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Демо 2 · файл demo/02_variables.cpp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66751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6675120" cy="237744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sensors = 12;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channels = sensors * 4;   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48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 = sensors + 3;        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15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channels досі 48 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його треба обчислити ще раз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 = sensors * 4;       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60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7562088" y="1920240"/>
            <a:ext cx="4023360" cy="1111504"/>
          </a:xfrm>
          <a:prstGeom prst="roundRect">
            <a:avLst>
              <a:gd name="adj" fmla="val 822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8" name="card-text"/>
          <p:cNvSpPr txBox="1"/>
          <p:nvPr/>
        </p:nvSpPr>
        <p:spPr>
          <a:xfrm>
            <a:off x="7562088" y="1920240"/>
            <a:ext cx="402336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= — це запис, а не рівність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sensors = 15 читається «поклади 15 у sensors».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7562088" y="3214624"/>
            <a:ext cx="4023360" cy="1111504"/>
          </a:xfrm>
          <a:prstGeom prst="roundRect">
            <a:avLst>
              <a:gd name="adj" fmla="val 8227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0" name="card-text"/>
          <p:cNvSpPr txBox="1"/>
          <p:nvPr/>
        </p:nvSpPr>
        <p:spPr>
          <a:xfrm>
            <a:off x="7562088" y="3214624"/>
            <a:ext cx="402336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Змінна зберігає число, а не формулу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channels не перерахується сам, коли змінився sensors.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ЦІЛІ ТИПИ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Розмір комірки задає межу числа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Демо 3 · файл demo/03_int_types.cpp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92024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7132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Тип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Байтів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Діапазон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short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−32 768 … 32 767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−2 147 483 648 … 2 147 483 647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 long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±9.2 · 10¹⁸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612648" y="4572000"/>
            <a:ext cx="5394960" cy="1188720"/>
          </a:xfrm>
          <a:prstGeom prst="roundRect">
            <a:avLst>
              <a:gd name="adj" fmla="val 769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7" name="card-text"/>
          <p:cNvSpPr txBox="1"/>
          <p:nvPr/>
        </p:nvSpPr>
        <p:spPr>
          <a:xfrm>
            <a:off x="612648" y="4572000"/>
            <a:ext cx="5394960" cy="118872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Розмір показує sizeof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sizeof(int) — скільки байтів займає int на цьому комп'ютері.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6190488" y="4572000"/>
            <a:ext cx="5394960" cy="1188720"/>
          </a:xfrm>
          <a:prstGeom prst="roundRect">
            <a:avLst>
              <a:gd name="adj" fmla="val 7692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9" name="card-text"/>
          <p:cNvSpPr txBox="1"/>
          <p:nvPr/>
        </p:nvSpPr>
        <p:spPr>
          <a:xfrm>
            <a:off x="6190488" y="4572000"/>
            <a:ext cx="5394960" cy="118872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Коли брати long long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Перегляди відео, мілісекунди, гроші в копійках — усе, що може перевищити 2 мільярди.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ДІЛЕННЯ ЦІЛИХ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/ дає цілу частину, % — остачу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Ділення з остачею, як у школі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6675120" cy="1954784"/>
          </a:xfrm>
          <a:prstGeom prst="roundRect">
            <a:avLst>
              <a:gd name="adj" fmla="val 374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12648" y="1920240"/>
            <a:ext cx="6675120" cy="195478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 / 2      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3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7 % 2      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365 / 7    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52   тижні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365 % 7    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1    день лишився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7562088" y="1920240"/>
            <a:ext cx="4023360" cy="1111504"/>
          </a:xfrm>
          <a:prstGeom prst="roundRect">
            <a:avLst>
              <a:gd name="adj" fmla="val 8227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8" name="card-text"/>
          <p:cNvSpPr txBox="1"/>
          <p:nvPr/>
        </p:nvSpPr>
        <p:spPr>
          <a:xfrm>
            <a:off x="7562088" y="1920240"/>
            <a:ext cx="402336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Відкидає, а не округлює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 / 2 дає 4, а не 5. Дробова частина просто зникає.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7562088" y="3214624"/>
            <a:ext cx="4023360" cy="1111504"/>
          </a:xfrm>
          <a:prstGeom prst="roundRect">
            <a:avLst>
              <a:gd name="adj" fmla="val 822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card-text"/>
          <p:cNvSpPr txBox="1"/>
          <p:nvPr/>
        </p:nvSpPr>
        <p:spPr>
          <a:xfrm>
            <a:off x="7562088" y="3214624"/>
            <a:ext cx="402336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Пара / і %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Розкласти дні на тижні, секунди на хвилини, вироби на коробки.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ПРАКТИКА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Чотири задачі — від виводу до першого обчислення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Папка praktyka · у кожному файлі умова й очікуваний вивід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92024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Файл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Задача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Що знадобиться</a:t>
                      </a:r>
                      <a:endParaRPr lang="en-US" sz="12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task_1a.cpp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Сходинки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task_1b.cpp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Візитка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cout, \n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task_1c.cpp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Діалог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cout, коментарі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task_1d.cpp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Секунди в добі</a:t>
                      </a:r>
                      <a:endParaRPr lang="en-US" sz="1600" dirty="0"/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int, *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612648" y="5074920"/>
            <a:ext cx="10972800" cy="867664"/>
          </a:xfrm>
          <a:prstGeom prst="roundRect">
            <a:avLst>
              <a:gd name="adj" fmla="val 1053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7" name="card-text"/>
          <p:cNvSpPr txBox="1"/>
          <p:nvPr/>
        </p:nvSpPr>
        <p:spPr>
          <a:xfrm>
            <a:off x="612648" y="5074920"/>
            <a:ext cx="10972800" cy="86766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Як знати, що розв'язок правильний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Вивід вашої програми збігається з очікуваним посимвольно.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ДАЛІ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Заняття 2: як комп'ютер ділить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Ціле ділення, остача, дробові числа і де губиться копійка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612648" y="1920240"/>
            <a:ext cx="10972800" cy="1144016"/>
          </a:xfrm>
          <a:prstGeom prst="roundRect">
            <a:avLst>
              <a:gd name="adj" fmla="val 799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6" name="card-text"/>
          <p:cNvSpPr txBox="1"/>
          <p:nvPr/>
        </p:nvSpPr>
        <p:spPr>
          <a:xfrm>
            <a:off x="612648" y="1920240"/>
            <a:ext cx="10972800" cy="1144016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До заняття 2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Повторити задачі 1a–1d самостійно. Якщо щось не компілюється — принесіть цей код: розберемо помилку разом.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и C++">
  <a:themeElements>
    <a:clrScheme name="Основи C++">
      <a:dk1>
        <a:srgbClr val="172033"/>
      </a:dk1>
      <a:lt1>
        <a:srgbClr val="FFFFFF"/>
      </a:lt1>
      <a:dk2>
        <a:srgbClr val="5A677D"/>
      </a:dk2>
      <a:lt2>
        <a:srgbClr val="F7F9FC"/>
      </a:lt2>
      <a:accent1>
        <a:srgbClr val="2563EB"/>
      </a:accent1>
      <a:accent2>
        <a:srgbClr val="047857"/>
      </a:accent2>
      <a:accent3>
        <a:srgbClr val="B45309"/>
      </a:accent3>
      <a:accent4>
        <a:srgbClr val="6D28D9"/>
      </a:accent4>
      <a:accent5>
        <a:srgbClr val="1E40AF"/>
      </a:accent5>
      <a:accent6>
        <a:srgbClr val="D7DEE8"/>
      </a:accent6>
      <a:hlink>
        <a:srgbClr val="2563EB"/>
      </a:hlink>
      <a:folHlink>
        <a:srgbClr val="6D28D9"/>
      </a:folHlink>
    </a:clrScheme>
    <a:fontScheme name="Основи C++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· Заняття 1</dc:title>
  <dc:subject>PptxGenJS Presentation</dc:subject>
  <dc:creator>PptxGenJS</dc:creator>
  <cp:lastModifiedBy>PptxGenJS</cp:lastModifiedBy>
  <cp:revision>1</cp:revision>
  <dcterms:created xsi:type="dcterms:W3CDTF">2026-10-10T06:23:00Z</dcterms:created>
  <dcterms:modified xsi:type="dcterms:W3CDTF">2026-10-10T06:23:00Z</dcterms:modified>
</cp:coreProperties>
</file>