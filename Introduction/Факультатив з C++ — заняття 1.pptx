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4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3541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Поки збираються — сказати вголос: досвід не потрібен, усе пишемо разом, нічого встановлювати заздалегідь не треба.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Головне речення заняття. Сказати повільно і не бігти далі. Підкреслити друге речення: ми не женемося за обсягом мови.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продавати мову. Остання теза — найважливіша: C++ показує, як усе влаштовано всередині.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Зняти тривогу — це головна функція слайда. Назвати прямо, що сильним буде окреме завдання, щоб вони не думали, що буде нудно.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Четвертий пункт назвати окремо: уміння знаходити власні помилки — це більша частина роботи програміста.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читати таблицю вголос рядок за рядком. Показати і назвати три опорні точки: цикли на 4-му, функції на 5-му, проєкт на 10-му.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Наголосити на другому пункті: встановлення середовища не має стати бар'єром на першому занятті.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Останнє речення сказати прямо, без пом'якшення. Це єдина вимога, яку ви ставите.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Застерегти від старих книжок і сайтів: мова змінилася, а в мережі багато матеріалів двадцятирічної давнини. Орієнтир — C++17 і новіше.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Посилання на онлайн-компілятор кинути в чат ПЕРЕД цим слайдом, щоб усі встигли відкрити.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Останній слайд перед спільним екраном. Далі показувати вже не презентацію, а редактор.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7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4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92560"/>
            <a:ext cx="10566400" cy="445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7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4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92560"/>
            <a:ext cx="10566400" cy="445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FA6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Заняття 1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06389"/>
            <a:ext cx="10883392" cy="141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Основи програмування</a:t>
            </a:r>
            <a:endParaRPr lang="en-US" sz="5200" dirty="0"/>
          </a:p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C++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947170"/>
            <a:ext cx="771779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8318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097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#include &lt;iostream&gt;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4F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8218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3D0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Мета курсу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35870"/>
            <a:ext cx="10203180" cy="1671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Навчитися перетворювати задачу на працюючу програму — і вільно почуватися в коді, який написав сам.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4386560"/>
            <a:ext cx="9156700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DCE3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вивчити весь C++ за десять занять. Вийти з курсу з навичкою, яку далі можна розвивати в будь-якій мові.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Чому саме C++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5975" y="1646535"/>
            <a:ext cx="3397250" cy="1338511"/>
          </a:xfrm>
          <a:prstGeom prst="roundRect">
            <a:avLst>
              <a:gd name="adj" fmla="val 7353"/>
            </a:avLst>
          </a:prstGeom>
          <a:solidFill>
            <a:srgbClr val="FFFDF9"/>
          </a:solidFill>
          <a:ln w="6350">
            <a:solidFill>
              <a:srgbClr val="E2DED5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4" name="Text 2"/>
          <p:cNvSpPr/>
          <p:nvPr/>
        </p:nvSpPr>
        <p:spPr>
          <a:xfrm>
            <a:off x="1073150" y="1903710"/>
            <a:ext cx="296938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4F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Ігри та графіка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73150" y="2249140"/>
            <a:ext cx="2969387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Unreal Engine, Unity під капотом, рушії фізики та рендерингу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97375" y="1646535"/>
            <a:ext cx="3397250" cy="1338511"/>
          </a:xfrm>
          <a:prstGeom prst="roundRect">
            <a:avLst>
              <a:gd name="adj" fmla="val 7353"/>
            </a:avLst>
          </a:prstGeom>
          <a:solidFill>
            <a:srgbClr val="FFFDF9"/>
          </a:solidFill>
          <a:ln w="6350">
            <a:solidFill>
              <a:srgbClr val="E2DED5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7" name="Text 5"/>
          <p:cNvSpPr/>
          <p:nvPr/>
        </p:nvSpPr>
        <p:spPr>
          <a:xfrm>
            <a:off x="4654550" y="1903710"/>
            <a:ext cx="296938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4F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Вбудовані системи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54550" y="2249140"/>
            <a:ext cx="2969387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Автомобілі, дрони, медичне обладнання, роботи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78775" y="1646535"/>
            <a:ext cx="3397250" cy="1338511"/>
          </a:xfrm>
          <a:prstGeom prst="roundRect">
            <a:avLst>
              <a:gd name="adj" fmla="val 7353"/>
            </a:avLst>
          </a:prstGeom>
          <a:solidFill>
            <a:srgbClr val="FFFDF9"/>
          </a:solidFill>
          <a:ln w="6350">
            <a:solidFill>
              <a:srgbClr val="E2DED5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0" name="Text 8"/>
          <p:cNvSpPr/>
          <p:nvPr/>
        </p:nvSpPr>
        <p:spPr>
          <a:xfrm>
            <a:off x="8235950" y="1903710"/>
            <a:ext cx="296938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4F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Обробка даних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35950" y="2249140"/>
            <a:ext cx="2969387" cy="50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Відео, звук, наукові розрахунки, машинне навчання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3343821"/>
            <a:ext cx="10203180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Але головне інше: хто розуміє C++, швидко розбирається в будь-якій іншій мові. Зворотне працює гірше.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028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Мета курсу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5936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FA6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Для кого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762250"/>
            <a:ext cx="10203180" cy="1018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10"/>
              </a:lnSpc>
              <a:buNone/>
            </a:pPr>
            <a:r>
              <a:rPr lang="en-US" sz="3400" b="1" i="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Більшість із вас ніколи не писала жодного рядка коду. 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4009330"/>
            <a:ext cx="9679940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C9CD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 не женемося. Кожне заняття пишемо код разом, із нуля, і ніхто не лишається позаду. 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Що ви вмітимете наприкінці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83158" y="1592560"/>
            <a:ext cx="10125202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3642" indent="-183642" algn="l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Написати програму з нуля і запустити її у себе на комп'ютері</a:t>
            </a:r>
            <a:endParaRPr lang="en-US" sz="1600" dirty="0"/>
          </a:p>
          <a:p>
            <a:pPr marL="183642" indent="-183642" algn="l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Розбити задачу на кроки, які можна записати кодом</a:t>
            </a:r>
            <a:endParaRPr lang="en-US" sz="1600" dirty="0"/>
          </a:p>
          <a:p>
            <a:pPr marL="183642" indent="-183642" algn="l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Читати чужий код і розуміти, що він робить</a:t>
            </a:r>
            <a:endParaRPr lang="en-US" sz="1600" dirty="0"/>
          </a:p>
          <a:p>
            <a:pPr marL="183642" indent="-183642" algn="l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Знайти власну помилку і </a:t>
            </a:r>
            <a:r>
              <a:rPr lang="en-US" sz="1600" dirty="0" err="1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виправити</a:t>
            </a:r>
            <a:r>
              <a:rPr lang="en-US" sz="16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її</a:t>
            </a:r>
            <a:endParaRPr lang="en-US" sz="1600" dirty="0"/>
          </a:p>
          <a:p>
            <a:pPr marL="183642" indent="-183642" algn="l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Розуміти, куди рухатись далі самостійно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1028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Мета курсу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Програма: десять занять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54460"/>
          <a:ext cx="10553700" cy="4079130"/>
        </p:xfrm>
        <a:graphic>
          <a:graphicData uri="http://schemas.openxmlformats.org/drawingml/2006/table">
            <a:tbl>
              <a:tblPr/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C636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№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C636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Тема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C636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Що зможете після заняття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4F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Перша програма, вивід на екран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Запустити свій код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4F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Змінні, типи, арифметика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Порахувати що завгодно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4F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Введення з клавіатури, умови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Програма реагує на дані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4F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Цикли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Повторювати дію тисячі разів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4F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Функції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Розбити задачу на частини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4F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Масиви і рядки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Працювати з набором даних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4F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Вектори та алгоритми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Сортувати і шукати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4F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Структури, знайомство з класами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Описувати власні типи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4F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Файли та помилки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Зберігати результат роботи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3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4F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Проєкт і куди рухатись далі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Своя завершена програма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1694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Що будемо робити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Як проходить заняття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15975" y="1646535"/>
            <a:ext cx="3397250" cy="1910606"/>
          </a:xfrm>
          <a:prstGeom prst="roundRect">
            <a:avLst>
              <a:gd name="adj" fmla="val 5152"/>
            </a:avLst>
          </a:prstGeom>
          <a:solidFill>
            <a:srgbClr val="FFFDF9"/>
          </a:solidFill>
          <a:ln w="6350">
            <a:solidFill>
              <a:srgbClr val="E2DED5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4" name="Text 2"/>
          <p:cNvSpPr/>
          <p:nvPr/>
        </p:nvSpPr>
        <p:spPr>
          <a:xfrm>
            <a:off x="1073150" y="1903710"/>
            <a:ext cx="296938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63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3150" y="2236440"/>
            <a:ext cx="296938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Пишемо разом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50" y="2581870"/>
            <a:ext cx="2969387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 пишу код на екрані, ви повторюєте у себе. Повільно, з поясненням кожного рядка.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7375" y="1646535"/>
            <a:ext cx="3397250" cy="1910606"/>
          </a:xfrm>
          <a:prstGeom prst="roundRect">
            <a:avLst>
              <a:gd name="adj" fmla="val 5152"/>
            </a:avLst>
          </a:prstGeom>
          <a:solidFill>
            <a:srgbClr val="FFFDF9"/>
          </a:solidFill>
          <a:ln w="6350">
            <a:solidFill>
              <a:srgbClr val="E2DED5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4654550" y="1903710"/>
            <a:ext cx="296938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63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54550" y="2236440"/>
            <a:ext cx="296938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Спершу браузер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54550" y="2581870"/>
            <a:ext cx="2969387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Перші заняття — в онлайн-компіляторі. Нічого встановлювати не треба.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78775" y="1646535"/>
            <a:ext cx="3397250" cy="1910606"/>
          </a:xfrm>
          <a:prstGeom prst="roundRect">
            <a:avLst>
              <a:gd name="adj" fmla="val 5152"/>
            </a:avLst>
          </a:prstGeom>
          <a:solidFill>
            <a:srgbClr val="FFFDF9"/>
          </a:solidFill>
          <a:ln w="6350">
            <a:solidFill>
              <a:srgbClr val="E2DED5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2" name="Text 10"/>
          <p:cNvSpPr/>
          <p:nvPr/>
        </p:nvSpPr>
        <p:spPr>
          <a:xfrm>
            <a:off x="8235950" y="1903710"/>
            <a:ext cx="296938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463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35950" y="2236440"/>
            <a:ext cx="296938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Потім VS Code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35950" y="2581870"/>
            <a:ext cx="2969387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Коли код стане звичним — переходимо на справжнє середовище розробки.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3915916"/>
            <a:ext cx="1020318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Питання пишіть у чат будь-коли — не чекайте кінця заняття.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694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Що будемо робити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Домашнє завдання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12800" y="1592560"/>
            <a:ext cx="10203180" cy="3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Після кожного заняття — три рівні завдань. Беріть той, який ваш.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5975" y="2195165"/>
            <a:ext cx="3397250" cy="1577876"/>
          </a:xfrm>
          <a:prstGeom prst="roundRect">
            <a:avLst>
              <a:gd name="adj" fmla="val 6238"/>
            </a:avLst>
          </a:prstGeom>
          <a:solidFill>
            <a:srgbClr val="FFFDF9"/>
          </a:solidFill>
          <a:ln w="6350">
            <a:solidFill>
              <a:srgbClr val="E2DED5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5" name="Text 3"/>
          <p:cNvSpPr/>
          <p:nvPr/>
        </p:nvSpPr>
        <p:spPr>
          <a:xfrm>
            <a:off x="1073150" y="2452340"/>
            <a:ext cx="296938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4F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Обов'язковий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50" y="2797770"/>
            <a:ext cx="2969387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Повторити те, що робили на занятті, з невеликою зміною. 15 хвилин.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7375" y="2195165"/>
            <a:ext cx="3397250" cy="1577876"/>
          </a:xfrm>
          <a:prstGeom prst="roundRect">
            <a:avLst>
              <a:gd name="adj" fmla="val 6238"/>
            </a:avLst>
          </a:prstGeom>
          <a:solidFill>
            <a:srgbClr val="FFFDF9"/>
          </a:solidFill>
          <a:ln w="6350">
            <a:solidFill>
              <a:srgbClr val="E2DED5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8" name="Text 6"/>
          <p:cNvSpPr/>
          <p:nvPr/>
        </p:nvSpPr>
        <p:spPr>
          <a:xfrm>
            <a:off x="4654550" y="2452340"/>
            <a:ext cx="296938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4F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Основний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54550" y="2797770"/>
            <a:ext cx="2969387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Схожа задача, яку ми не розбирали. Доведеться подумати. 30-40 хвилин.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78775" y="2195165"/>
            <a:ext cx="3397250" cy="1577876"/>
          </a:xfrm>
          <a:prstGeom prst="roundRect">
            <a:avLst>
              <a:gd name="adj" fmla="val 6238"/>
            </a:avLst>
          </a:prstGeom>
          <a:solidFill>
            <a:srgbClr val="FFFDF9"/>
          </a:solidFill>
          <a:ln w="6350">
            <a:solidFill>
              <a:srgbClr val="E2DED5"/>
            </a:solidFill>
            <a:prstDash val="solid"/>
          </a:ln>
        </p:spPr>
        <p:txBody>
          <a:bodyPr/>
          <a:lstStyle/>
          <a:p>
            <a:endParaRPr lang="en-RU"/>
          </a:p>
        </p:txBody>
      </p:sp>
      <p:sp>
        <p:nvSpPr>
          <p:cNvPr id="11" name="Text 9"/>
          <p:cNvSpPr/>
          <p:nvPr/>
        </p:nvSpPr>
        <p:spPr>
          <a:xfrm>
            <a:off x="8235950" y="2452340"/>
            <a:ext cx="296938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6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Виклик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35950" y="2797770"/>
            <a:ext cx="2969387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тих, хто вже програмує. Розбираємо найкращі рішення на наступному занятті.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4081016"/>
            <a:ext cx="1137920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Оцінок немає. Але той, хто не пише код руками, програмувати не навчиться — це єдине правило курсу.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1694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Що будемо робити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7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18"/>
              </a:lnSpc>
              <a:buNone/>
            </a:pPr>
            <a:r>
              <a:rPr lang="en-US" sz="3198" b="1" i="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Що читати</a:t>
            </a:r>
            <a:endParaRPr lang="en-US" sz="3198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21966"/>
          <a:ext cx="10553700" cy="3825923"/>
        </p:xfrm>
        <a:graphic>
          <a:graphicData uri="http://schemas.openxmlformats.org/drawingml/2006/table">
            <a:tbl>
              <a:tblPr/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565"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b="1" dirty="0">
                          <a:solidFill>
                            <a:srgbClr val="5C636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Рівень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b="1" dirty="0">
                          <a:solidFill>
                            <a:srgbClr val="5C636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Джерело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b="1" dirty="0">
                          <a:solidFill>
                            <a:srgbClr val="5C636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Для чого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770"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2B4F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 нуля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learncpp.com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Безкоштовно, англійською, найкращий курс для самостійного старту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770"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2B4F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 нуля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B. Stroustrup. Programming: Principles and Practice Using C++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Підручник від автора мови, третє видання під C++20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770"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2B4F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Далі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B. Stroustrup. A Tour of C++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Швидкий огляд сучасної мови для тих, хто вже пише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614"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2B4F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Далі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S. Meyers. Effective Modern C++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Як писати добре, а не просто правильно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614"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2B4F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Довідник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cppreference.com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Головний довідник мови, відкривати щодня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8820"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2B4F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Довідник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C++ Core Guidelines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95"/>
                        </a:lnSpc>
                        <a:buNone/>
                      </a:pPr>
                      <a:r>
                        <a:rPr lang="en-US" sz="1211" dirty="0">
                          <a:solidFill>
                            <a:srgbClr val="2D313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Стандарт того, як сьогодні заведено писати</a:t>
                      </a:r>
                      <a:endParaRPr lang="en-US" sz="121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88900" marB="88900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601891"/>
            <a:ext cx="10203180" cy="26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2"/>
              </a:lnSpc>
              <a:buNone/>
            </a:pPr>
            <a:r>
              <a:rPr lang="en-US" sz="1326" dirty="0">
                <a:solidFill>
                  <a:srgbClr val="2D31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Перші два місяці достатньо одного рядка з цієї таблиці. Решту зберіть на потім.</a:t>
            </a:r>
            <a:endParaRPr lang="en-US" sz="1326" dirty="0"/>
          </a:p>
        </p:txBody>
      </p:sp>
      <p:sp>
        <p:nvSpPr>
          <p:cNvPr id="5" name="Text 2"/>
          <p:cNvSpPr/>
          <p:nvPr/>
        </p:nvSpPr>
        <p:spPr>
          <a:xfrm>
            <a:off x="812800" y="6238280"/>
            <a:ext cx="9936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C63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Література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37184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FA6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Сьогодні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90874"/>
            <a:ext cx="10883392" cy="521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10"/>
              </a:lnSpc>
              <a:buNone/>
            </a:pPr>
            <a:r>
              <a:rPr lang="en-US" sz="3400" b="1" i="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Напишемо першу програму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5897" y="3192214"/>
            <a:ext cx="9659223" cy="185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0903" indent="-240903" algn="l">
              <a:lnSpc>
                <a:spcPts val="2880"/>
              </a:lnSpc>
              <a:buSzPct val="100000"/>
              <a:buFontTx/>
              <a:buAutoNum type="arabicPeriod"/>
            </a:pPr>
            <a:r>
              <a:rPr lang="en-US" sz="1600" dirty="0" err="1">
                <a:solidFill>
                  <a:srgbClr val="C9CD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Відкриваємо</a:t>
            </a:r>
            <a:r>
              <a:rPr lang="en-US" sz="1600" dirty="0">
                <a:solidFill>
                  <a:srgbClr val="C9CD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C9CD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онлайн-компілятор</a:t>
            </a:r>
            <a:endParaRPr lang="en-US" sz="1600" dirty="0"/>
          </a:p>
          <a:p>
            <a:pPr marL="240903" indent="-240903" algn="l">
              <a:lnSpc>
                <a:spcPts val="2880"/>
              </a:lnSpc>
              <a:buSzPct val="100000"/>
              <a:buFontTx/>
              <a:buAutoNum type="arabicPeriod"/>
            </a:pPr>
            <a:r>
              <a:rPr lang="en-US" sz="1600" dirty="0" err="1">
                <a:solidFill>
                  <a:srgbClr val="C9CD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Виводимо</a:t>
            </a:r>
            <a:r>
              <a:rPr lang="en-US" sz="1600" dirty="0">
                <a:solidFill>
                  <a:srgbClr val="C9CD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C9CD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текст</a:t>
            </a:r>
            <a:r>
              <a:rPr lang="en-US" sz="1600" dirty="0">
                <a:solidFill>
                  <a:srgbClr val="C9CD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на </a:t>
            </a:r>
            <a:r>
              <a:rPr lang="en-US" sz="1600" dirty="0" err="1">
                <a:solidFill>
                  <a:srgbClr val="C9CD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екран</a:t>
            </a:r>
            <a:endParaRPr lang="en-US" sz="1600" dirty="0"/>
          </a:p>
          <a:p>
            <a:pPr marL="240903" indent="-240903" algn="l">
              <a:lnSpc>
                <a:spcPts val="2880"/>
              </a:lnSpc>
              <a:buSzPct val="100000"/>
              <a:buFontTx/>
              <a:buAutoNum type="arabicPeriod"/>
            </a:pPr>
            <a:r>
              <a:rPr lang="en-US" sz="1600" dirty="0" err="1">
                <a:solidFill>
                  <a:srgbClr val="C9CD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Додаємо</a:t>
            </a:r>
            <a:r>
              <a:rPr lang="en-US" sz="1600" dirty="0">
                <a:solidFill>
                  <a:srgbClr val="C9CD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змінну і робимо з неї розрахунок</a:t>
            </a:r>
            <a:endParaRPr lang="en-US" sz="1600" dirty="0"/>
          </a:p>
          <a:p>
            <a:pPr marL="240903" indent="-240903" algn="l">
              <a:lnSpc>
                <a:spcPts val="288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C9CD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Запитуємо дані в користувача</a:t>
            </a:r>
            <a:endParaRPr lang="en-US" sz="1600" dirty="0"/>
          </a:p>
          <a:p>
            <a:pPr marL="240903" indent="-240903" algn="l">
              <a:lnSpc>
                <a:spcPts val="2880"/>
              </a:lnSpc>
              <a:buSzPct val="100000"/>
              <a:buFontTx/>
              <a:buAutoNum type="arabicPeriod"/>
            </a:pPr>
            <a:r>
              <a:rPr lang="en-US" sz="1600" dirty="0">
                <a:solidFill>
                  <a:srgbClr val="C9CD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Розбираємо, що робити вдома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4F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144398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Переходимо до коду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2325340"/>
            <a:ext cx="8255000" cy="2438400"/>
          </a:xfrm>
          <a:prstGeom prst="roundRect">
            <a:avLst>
              <a:gd name="adj" fmla="val 4167"/>
            </a:avLst>
          </a:prstGeom>
          <a:solidFill>
            <a:srgbClr val="14171C"/>
          </a:solidFill>
          <a:ln/>
        </p:spPr>
        <p:txBody>
          <a:bodyPr/>
          <a:lstStyle/>
          <a:p>
            <a:endParaRPr lang="en-RU"/>
          </a:p>
        </p:txBody>
      </p:sp>
      <p:sp>
        <p:nvSpPr>
          <p:cNvPr id="4" name="Text 2"/>
          <p:cNvSpPr/>
          <p:nvPr/>
        </p:nvSpPr>
        <p:spPr>
          <a:xfrm>
            <a:off x="1168400" y="2680940"/>
            <a:ext cx="77701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8FA6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#include &lt;iostream&gt;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68400" y="3392140"/>
            <a:ext cx="77701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main() {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68400" y="3747740"/>
            <a:ext cx="77701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097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std::cout &lt;&lt; "Привіт!";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68400" y="4103340"/>
            <a:ext cx="77701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7F5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6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B341205B-D53C-4712-3DF7-F711238A98F5}"/>
              </a:ext>
            </a:extLst>
          </p:cNvPr>
          <p:cNvSpPr txBox="1">
            <a:spLocks/>
          </p:cNvSpPr>
          <p:nvPr/>
        </p:nvSpPr>
        <p:spPr>
          <a:xfrm>
            <a:off x="1666658" y="541402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ct val="0"/>
              </a:spcBef>
              <a:buNone/>
              <a:defRPr lang="en-US" sz="3400" kern="1200" dirty="0">
                <a:solidFill>
                  <a:srgbClr val="14171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>
              <a:lnSpc>
                <a:spcPts val="4140"/>
              </a:lnSpc>
            </a:pPr>
            <a:r>
              <a:rPr lang="ru-RU" sz="3600" dirty="0"/>
              <a:t>Питання?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Факультатив з C++ — заняття 1">
  <a:themeElements>
    <a:clrScheme name="Факультатив з C++ — заняття 1">
      <a:dk1>
        <a:srgbClr val="2D3138"/>
      </a:dk1>
      <a:lt1>
        <a:srgbClr val="F7F5F0"/>
      </a:lt1>
      <a:dk2>
        <a:srgbClr val="606266"/>
      </a:dk2>
      <a:lt2>
        <a:srgbClr val="E3E1DE"/>
      </a:lt2>
      <a:accent1>
        <a:srgbClr val="2B4FB8"/>
      </a:accent1>
      <a:accent2>
        <a:srgbClr val="8FA6E8"/>
      </a:accent2>
      <a:accent3>
        <a:srgbClr val="B4631A"/>
      </a:accent3>
      <a:accent4>
        <a:srgbClr val="E0975A"/>
      </a:accent4>
      <a:accent5>
        <a:srgbClr val="C3D0F5"/>
      </a:accent5>
      <a:accent6>
        <a:srgbClr val="14171C"/>
      </a:accent6>
      <a:hlink>
        <a:srgbClr val="0563C1"/>
      </a:hlink>
      <a:folHlink>
        <a:srgbClr val="954F72"/>
      </a:folHlink>
    </a:clrScheme>
    <a:fontScheme name="Факультатив з C++ — заняття 1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835</Words>
  <Application>Microsoft Macintosh PowerPoint</Application>
  <PresentationFormat>Widescreen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Inter</vt:lpstr>
      <vt:lpstr>JetBrains Mono</vt:lpstr>
      <vt:lpstr>Факультатив з C++ — заняття 1</vt:lpstr>
      <vt:lpstr>Основи програмування на C++</vt:lpstr>
      <vt:lpstr>Навчитися перетворювати задачу на працюючу програму — і вільно почуватися в коді, який написав сам.</vt:lpstr>
      <vt:lpstr>Чому саме C++</vt:lpstr>
      <vt:lpstr>Більшість із вас ніколи не писала жодного рядка коду. </vt:lpstr>
      <vt:lpstr>Що ви вмітимете наприкінці</vt:lpstr>
      <vt:lpstr>Програма: десять занять</vt:lpstr>
      <vt:lpstr>Як проходить заняття</vt:lpstr>
      <vt:lpstr>Домашнє завдання</vt:lpstr>
      <vt:lpstr>Що читати</vt:lpstr>
      <vt:lpstr>Напишемо першу програму</vt:lpstr>
      <vt:lpstr>Переходимо до коду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Факультатив з C++ — заняття 1</dc:title>
  <dc:subject/>
  <dc:creator/>
  <cp:lastModifiedBy>Михайло Володимирович Гулевич</cp:lastModifiedBy>
  <cp:revision>3</cp:revision>
  <dcterms:created xsi:type="dcterms:W3CDTF">2026-10-02T20:01:44Z</dcterms:created>
  <dcterms:modified xsi:type="dcterms:W3CDTF">2026-10-02T20:04:36Z</dcterms:modified>
</cp:coreProperties>
</file>