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очаток" id="{A14A3BB2-E856-B5DD-3497-603CED94A443}">
          <p14:sldIdLst>
            <p14:sldId id="256"/>
            <p14:sldId id="257"/>
          </p14:sldIdLst>
        </p14:section>
        <p14:section name="Ділення цілих" id="{92F094A8-2CFF-E24F-1B9E-68641CBE0C00}">
          <p14:sldIdLst>
            <p14:sldId id="258"/>
          </p14:sldIdLst>
        </p14:section>
        <p14:section name="Дробові числа" id="{C89E87CF-032F-60F0-B8D3-C87B3160CBC3}">
          <p14:sldIdLst>
            <p14:sldId id="260"/>
            <p14:sldId id="261"/>
            <p14:sldId id="262"/>
            <p14:sldId id="263"/>
            <p14:sldId id="264"/>
          </p14:sldIdLst>
        </p14:section>
        <p14:section name="Задача тижня" id="{0F462EF9-6243-CA27-A0B1-44FD35418F32}">
          <p14:sldIdLst>
            <p14:sldId id="265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06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початку: три опитування в Teams створені (тексти в README заняття), VS Code відкритий на порожньому int_division.cpp, шрифт 22+. Перше речення: «Почнемо з того, що не встигли минулого разу, — ділення цілих. А потім побачимо, що й дробові числа діляться не так, як у математиці».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секунд. Головне — правило опитувань: голосувати до запуску, помилятися можна. Це знімає страх у тих, хто ніколи не програмував.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хвилин, задачі 1–3 з tasks.md наживо. Перед запуском 365 / 7 запитати зал: що виведе? Потім cin: програма зупиняється й чекає — це не зависання. Задача 3 (1000 секунд → 16 40) — та сама пара / і %, хай кілька людей напишуть відповідь у чат до запуску. Код — src/int_division.cpp.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 метафора працює на все заняття. Попросити зал порахувати в голові: 0.333333 × 3. Вийде 0.999999, а не 1. Не пояснювати двійкову систему детально — досить того, що 0.1 у ній не записується скінченно, як 1/3 у десятковій. Далі — Peer Instruction з піцею: перше зіткнення з дробовим діленням.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Головне питання заняття, близько 6 хвилин. Після першого голосування результат НЕ показувати. 30–70% правильних (B) — обговорення в чаті: «знайдіть когось, хто відповів інакше, і переконайте». Повторне голосування, показати обидва раунди. Більше 70% — пояснити й рухатися. Менше 30% — пояснити ще раз без обговорення. Ключ: 8 і 3 — цілі, тому ділення ціле, і в змінну потрапляє 2. Тип результату визначають операнди, а не змінна зліва. Виправлення 8.0 / 3 дає 2.66667 — це задача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Набрати рядок наживо в precision.cpp після піци, НЕ запускати. Опитування 60 секунд, показати розподіл, запустити. Правильна — B. == тут лише для перевірки «рівні чи ні»; детально — на занятті про умови. Одразу після — setprecision(17) і показати 0.30000000000000004: ось воно, наближення з попереднього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хвилина підсумку. Перевірочне питання в зал: «Чи варто зберігати номер телефону в double?» — ні, це не величина, а набір цифр.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Лайв-кодинг 2, src/precision.cpp. Спершу 2.99 → 2: «static_cast — це наказ компілятору перетворити тип». Потім lround. Потім 0.29 * 100 → 28 — перед запуском усно «передбачте». Пов'язати з біржею: мільйон таких обрізань. Не казати, де саме це знадобиться в задачі тижня — хай поглиблений рівень помітить 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Рівень обирає студент, і його можна міняти щотижня. У «Решті» є пастка з сьогоднішнього заняття — не підказувати. Очевидний розв'язок проходить лише два тести з п'яти. Умови — pset2/bill і pset2/change, викласти в канал тижня зараз.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Найважливіші 10 хвилин для новачків: вони йдуть із заняття з початим файлом. Спершу разом псевдокод — питати зал, що далі. Потім наживо перші рядки. Звідки (100 + tip) / 100 — запитати в залу. Пауза 3 хвилини: «напишіть ці рядки в себе й виведіть total для 450 10 — має бути 495». Хто встиг — «+» у чат.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Остання хвилина — опитування. Правильна відповідь на перше: 3. Якщо правильних менше 70%, заняття 3 починається з 5 хвилин про обрізання й округлення. Друге питання — «найменш зрозуміле»: прочитати всі відповіді, на найчастішу відповісти на початку наступного заняття.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Основи програмування на C++ · Заняття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1965960"/>
            <a:ext cx="10972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Основи програмування на C++ · Заняття 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1000"/>
              </a:spcAft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Основи програмування на C++ · Заняття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2834640"/>
            <a:ext cx="109728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1000"/>
              </a:spcAft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spcAft>
                <a:spcPts val="10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61264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Основи програмування на C++ · Заняття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Заняття 2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19659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</a:rPr>
              <a:t>Як комп'ютер ділить</a:t>
            </a:r>
            <a:endParaRPr lang="en-US" sz="5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Ціле ділення, остача, дробові числа і де губиться копійка</a:t>
            </a:r>
            <a:endParaRPr lang="en-US" sz="1800" dirty="0"/>
          </a:p>
        </p:txBody>
      </p:sp>
      <p:sp>
        <p:nvSpPr>
          <p:cNvPr id="5" name="chip"/>
          <p:cNvSpPr/>
          <p:nvPr/>
        </p:nvSpPr>
        <p:spPr>
          <a:xfrm>
            <a:off x="612648" y="4572000"/>
            <a:ext cx="1274445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612648" y="4572000"/>
            <a:ext cx="12744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60 хвилин</a:t>
            </a:r>
            <a:endParaRPr lang="en-US" sz="1300" dirty="0"/>
          </a:p>
        </p:txBody>
      </p:sp>
      <p:sp>
        <p:nvSpPr>
          <p:cNvPr id="7" name="chip"/>
          <p:cNvSpPr/>
          <p:nvPr/>
        </p:nvSpPr>
        <p:spPr>
          <a:xfrm>
            <a:off x="2069973" y="4572000"/>
            <a:ext cx="172847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 txBox="1"/>
          <p:nvPr/>
        </p:nvSpPr>
        <p:spPr>
          <a:xfrm>
            <a:off x="2069973" y="4572000"/>
            <a:ext cx="1728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два опитування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3981323" y="4572000"/>
            <a:ext cx="281813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 txBox="1"/>
          <p:nvPr/>
        </p:nvSpPr>
        <p:spPr>
          <a:xfrm>
            <a:off x="3981323" y="4572000"/>
            <a:ext cx="2818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задача тижня у двох рівнях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СЬОГОДНІ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Одна ідея за 60 хвилин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Коротко пояснюю — ви передбачаєте — запускаємо — пояснюємо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612648" y="1920240"/>
            <a:ext cx="1706880" cy="1095248"/>
          </a:xfrm>
          <a:prstGeom prst="roundRect">
            <a:avLst>
              <a:gd name="adj" fmla="val 8349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card-text"/>
          <p:cNvSpPr txBox="1"/>
          <p:nvPr/>
        </p:nvSpPr>
        <p:spPr>
          <a:xfrm>
            <a:off x="612648" y="1920240"/>
            <a:ext cx="1706880" cy="10952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0–15 хв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Ділення цілих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502408" y="1920240"/>
            <a:ext cx="1706880" cy="1095248"/>
          </a:xfrm>
          <a:prstGeom prst="roundRect">
            <a:avLst>
              <a:gd name="adj" fmla="val 8349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card-text"/>
          <p:cNvSpPr txBox="1"/>
          <p:nvPr/>
        </p:nvSpPr>
        <p:spPr>
          <a:xfrm>
            <a:off x="2502408" y="1920240"/>
            <a:ext cx="1706880" cy="10952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15–20 хв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Задача з життя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92168" y="1920240"/>
            <a:ext cx="3413760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card-text"/>
          <p:cNvSpPr txBox="1"/>
          <p:nvPr/>
        </p:nvSpPr>
        <p:spPr>
          <a:xfrm>
            <a:off x="4392168" y="1920240"/>
            <a:ext cx="3413760" cy="10515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20–40 хв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Дробові числа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7988808" y="1920240"/>
            <a:ext cx="1706880" cy="1051560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2" name="card-text"/>
          <p:cNvSpPr txBox="1"/>
          <p:nvPr/>
        </p:nvSpPr>
        <p:spPr>
          <a:xfrm>
            <a:off x="7988808" y="1920240"/>
            <a:ext cx="1706880" cy="10515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40–55 хв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Задача тижня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9878568" y="1920240"/>
            <a:ext cx="1706880" cy="1095248"/>
          </a:xfrm>
          <a:prstGeom prst="roundRect">
            <a:avLst>
              <a:gd name="adj" fmla="val 8349"/>
            </a:avLst>
          </a:prstGeom>
          <a:solidFill>
            <a:schemeClr val="accent3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4" name="card-text"/>
          <p:cNvSpPr txBox="1"/>
          <p:nvPr/>
        </p:nvSpPr>
        <p:spPr>
          <a:xfrm>
            <a:off x="9878568" y="1920240"/>
            <a:ext cx="1706880" cy="10952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55–60 хв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Вихідний квиток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" y="3246120"/>
            <a:ext cx="10972800" cy="1111504"/>
          </a:xfrm>
          <a:prstGeom prst="roundRect">
            <a:avLst>
              <a:gd name="adj" fmla="val 8227"/>
            </a:avLst>
          </a:prstGeom>
          <a:solidFill>
            <a:schemeClr val="accent4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card-text"/>
          <p:cNvSpPr txBox="1"/>
          <p:nvPr/>
        </p:nvSpPr>
        <p:spPr>
          <a:xfrm>
            <a:off x="612648" y="3246120"/>
            <a:ext cx="1097280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Як працюємо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Перед кожним запуском коду — опитування в Teams: що виведе програма? Неправильна відповідь — нормально. Саме на ній найкраще видно, як думає комп'ютер.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ДІЛЕННЯ ЦІЛИХ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/ дає цілу частину, % — остачу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Те, що не встигли на занятті 1 · задачі 2a–2c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858000" cy="1987296"/>
          </a:xfrm>
          <a:prstGeom prst="roundRect">
            <a:avLst>
              <a:gd name="adj" fmla="val 36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code"/>
          <p:cNvSpPr txBox="1"/>
          <p:nvPr/>
        </p:nvSpPr>
        <p:spPr>
          <a:xfrm>
            <a:off x="612648" y="1920240"/>
            <a:ext cx="6858000" cy="1987296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 / 7               </a:t>
            </a:r>
            <a:r>
              <a:rPr lang="en-US" sz="17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52   тижні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365 % 7               </a:t>
            </a:r>
            <a:r>
              <a:rPr lang="en-US" sz="17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1    день лишився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n = 0;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std::cin &gt;&gt; n;        </a:t>
            </a:r>
            <a:r>
              <a:rPr lang="en-US" sz="17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число з клавіатури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n % 2;   </a:t>
            </a:r>
            <a:r>
              <a:rPr lang="en-US" sz="17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0 — парне, 1 — непарне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7744968" y="1920240"/>
            <a:ext cx="3840480" cy="1111504"/>
          </a:xfrm>
          <a:prstGeom prst="roundRect">
            <a:avLst>
              <a:gd name="adj" fmla="val 8227"/>
            </a:avLst>
          </a:prstGeom>
          <a:solidFill>
            <a:schemeClr val="accent3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card-text"/>
          <p:cNvSpPr txBox="1"/>
          <p:nvPr/>
        </p:nvSpPr>
        <p:spPr>
          <a:xfrm>
            <a:off x="7744968" y="1920240"/>
            <a:ext cx="384048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Відкидає, а не округлює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9 / 2 дає 4, а не 5. Дробова частина просто зникає.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744968" y="3214624"/>
            <a:ext cx="3840480" cy="1111504"/>
          </a:xfrm>
          <a:prstGeom prst="roundRect">
            <a:avLst>
              <a:gd name="adj" fmla="val 8227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card-text"/>
          <p:cNvSpPr txBox="1"/>
          <p:nvPr/>
        </p:nvSpPr>
        <p:spPr>
          <a:xfrm>
            <a:off x="7744968" y="3214624"/>
            <a:ext cx="384048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cin — дані з клавіатури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Стрілки &gt;&gt; показують напрямок: число йде з клавіатури у змінну.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ІДЕЯ БЕЗ КОДУ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Шість знаків не вміщують одну третю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Обрізали хвіст — і зворотна дія вже не повертає початкове число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÷ 3 =</a:t>
            </a:r>
            <a:endParaRPr lang="en-US" sz="2200" dirty="0"/>
          </a:p>
        </p:txBody>
      </p:sp>
      <p:sp>
        <p:nvSpPr>
          <p:cNvPr id="6" name="digit"/>
          <p:cNvSpPr/>
          <p:nvPr/>
        </p:nvSpPr>
        <p:spPr>
          <a:xfrm>
            <a:off x="2441448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 txBox="1"/>
          <p:nvPr/>
        </p:nvSpPr>
        <p:spPr>
          <a:xfrm>
            <a:off x="2441448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8" name="digit"/>
          <p:cNvSpPr/>
          <p:nvPr/>
        </p:nvSpPr>
        <p:spPr>
          <a:xfrm>
            <a:off x="3008376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3008376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3200" dirty="0"/>
          </a:p>
        </p:txBody>
      </p:sp>
      <p:sp>
        <p:nvSpPr>
          <p:cNvPr id="10" name="digit"/>
          <p:cNvSpPr/>
          <p:nvPr/>
        </p:nvSpPr>
        <p:spPr>
          <a:xfrm>
            <a:off x="3575304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3575304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digit"/>
          <p:cNvSpPr/>
          <p:nvPr/>
        </p:nvSpPr>
        <p:spPr>
          <a:xfrm>
            <a:off x="4142232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4142232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digit"/>
          <p:cNvSpPr/>
          <p:nvPr/>
        </p:nvSpPr>
        <p:spPr>
          <a:xfrm>
            <a:off x="4709160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4709160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digit"/>
          <p:cNvSpPr/>
          <p:nvPr/>
        </p:nvSpPr>
        <p:spPr>
          <a:xfrm>
            <a:off x="5276088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5276088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digit"/>
          <p:cNvSpPr/>
          <p:nvPr/>
        </p:nvSpPr>
        <p:spPr>
          <a:xfrm>
            <a:off x="5843016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 txBox="1"/>
          <p:nvPr/>
        </p:nvSpPr>
        <p:spPr>
          <a:xfrm>
            <a:off x="5843016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digit"/>
          <p:cNvSpPr/>
          <p:nvPr/>
        </p:nvSpPr>
        <p:spPr>
          <a:xfrm>
            <a:off x="6409944" y="192024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6409944" y="192024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3 =</a:t>
            </a:r>
            <a:endParaRPr lang="en-US" sz="2200" dirty="0"/>
          </a:p>
        </p:txBody>
      </p:sp>
      <p:sp>
        <p:nvSpPr>
          <p:cNvPr id="23" name="digit"/>
          <p:cNvSpPr/>
          <p:nvPr/>
        </p:nvSpPr>
        <p:spPr>
          <a:xfrm>
            <a:off x="2441448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2441448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digit"/>
          <p:cNvSpPr/>
          <p:nvPr/>
        </p:nvSpPr>
        <p:spPr>
          <a:xfrm>
            <a:off x="3008376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 txBox="1"/>
          <p:nvPr/>
        </p:nvSpPr>
        <p:spPr>
          <a:xfrm>
            <a:off x="3008376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3200" dirty="0"/>
          </a:p>
        </p:txBody>
      </p:sp>
      <p:sp>
        <p:nvSpPr>
          <p:cNvPr id="27" name="digit"/>
          <p:cNvSpPr/>
          <p:nvPr/>
        </p:nvSpPr>
        <p:spPr>
          <a:xfrm>
            <a:off x="3575304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8" name="Text 26"/>
          <p:cNvSpPr txBox="1"/>
          <p:nvPr/>
        </p:nvSpPr>
        <p:spPr>
          <a:xfrm>
            <a:off x="3575304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200" dirty="0"/>
          </a:p>
        </p:txBody>
      </p:sp>
      <p:sp>
        <p:nvSpPr>
          <p:cNvPr id="29" name="digit"/>
          <p:cNvSpPr/>
          <p:nvPr/>
        </p:nvSpPr>
        <p:spPr>
          <a:xfrm>
            <a:off x="4142232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 txBox="1"/>
          <p:nvPr/>
        </p:nvSpPr>
        <p:spPr>
          <a:xfrm>
            <a:off x="4142232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200" dirty="0"/>
          </a:p>
        </p:txBody>
      </p:sp>
      <p:sp>
        <p:nvSpPr>
          <p:cNvPr id="31" name="digit"/>
          <p:cNvSpPr/>
          <p:nvPr/>
        </p:nvSpPr>
        <p:spPr>
          <a:xfrm>
            <a:off x="4709160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2" name="Text 30"/>
          <p:cNvSpPr txBox="1"/>
          <p:nvPr/>
        </p:nvSpPr>
        <p:spPr>
          <a:xfrm>
            <a:off x="4709160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200" dirty="0"/>
          </a:p>
        </p:txBody>
      </p:sp>
      <p:sp>
        <p:nvSpPr>
          <p:cNvPr id="33" name="digit"/>
          <p:cNvSpPr/>
          <p:nvPr/>
        </p:nvSpPr>
        <p:spPr>
          <a:xfrm>
            <a:off x="5276088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4" name="Text 32"/>
          <p:cNvSpPr txBox="1"/>
          <p:nvPr/>
        </p:nvSpPr>
        <p:spPr>
          <a:xfrm>
            <a:off x="5276088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200" dirty="0"/>
          </a:p>
        </p:txBody>
      </p:sp>
      <p:sp>
        <p:nvSpPr>
          <p:cNvPr id="35" name="digit"/>
          <p:cNvSpPr/>
          <p:nvPr/>
        </p:nvSpPr>
        <p:spPr>
          <a:xfrm>
            <a:off x="5843016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6" name="Text 34"/>
          <p:cNvSpPr txBox="1"/>
          <p:nvPr/>
        </p:nvSpPr>
        <p:spPr>
          <a:xfrm>
            <a:off x="5843016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200" dirty="0"/>
          </a:p>
        </p:txBody>
      </p:sp>
      <p:sp>
        <p:nvSpPr>
          <p:cNvPr id="37" name="digit"/>
          <p:cNvSpPr/>
          <p:nvPr/>
        </p:nvSpPr>
        <p:spPr>
          <a:xfrm>
            <a:off x="6409944" y="2743200"/>
            <a:ext cx="493776" cy="67665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8" name="Text 36"/>
          <p:cNvSpPr txBox="1"/>
          <p:nvPr/>
        </p:nvSpPr>
        <p:spPr>
          <a:xfrm>
            <a:off x="6409944" y="2743200"/>
            <a:ext cx="493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7150608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 1</a:t>
            </a:r>
            <a:endParaRPr lang="en-US" sz="2200" dirty="0"/>
          </a:p>
        </p:txBody>
      </p:sp>
      <p:sp>
        <p:nvSpPr>
          <p:cNvPr id="40" name="card"/>
          <p:cNvSpPr/>
          <p:nvPr/>
        </p:nvSpPr>
        <p:spPr>
          <a:xfrm>
            <a:off x="612648" y="3749040"/>
            <a:ext cx="3535680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41" name="card-text"/>
          <p:cNvSpPr txBox="1"/>
          <p:nvPr/>
        </p:nvSpPr>
        <p:spPr>
          <a:xfrm>
            <a:off x="612648" y="3749040"/>
            <a:ext cx="3535680" cy="146304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Місце обмежене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double займає 8 байтів — це близько 15 значущих цифр. Решта відкидається.</a:t>
            </a:r>
            <a:endParaRPr lang="en-US" sz="1700" dirty="0"/>
          </a:p>
        </p:txBody>
      </p:sp>
      <p:sp>
        <p:nvSpPr>
          <p:cNvPr id="42" name="card"/>
          <p:cNvSpPr/>
          <p:nvPr/>
        </p:nvSpPr>
        <p:spPr>
          <a:xfrm>
            <a:off x="4331208" y="3749040"/>
            <a:ext cx="3535680" cy="1463040"/>
          </a:xfrm>
          <a:prstGeom prst="roundRect">
            <a:avLst>
              <a:gd name="adj" fmla="val 6250"/>
            </a:avLst>
          </a:prstGeom>
          <a:solidFill>
            <a:schemeClr val="accent4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43" name="card-text"/>
          <p:cNvSpPr txBox="1"/>
          <p:nvPr/>
        </p:nvSpPr>
        <p:spPr>
          <a:xfrm>
            <a:off x="4331208" y="3749040"/>
            <a:ext cx="3535680" cy="146304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Навіть 0.1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Комп'ютер рахує у двійковій системі. Там 0.1 — нескінченний дріб, як 1/3 у десятковій.</a:t>
            </a:r>
            <a:endParaRPr lang="en-US" sz="1700" dirty="0"/>
          </a:p>
        </p:txBody>
      </p:sp>
      <p:sp>
        <p:nvSpPr>
          <p:cNvPr id="44" name="card"/>
          <p:cNvSpPr/>
          <p:nvPr/>
        </p:nvSpPr>
        <p:spPr>
          <a:xfrm>
            <a:off x="8049768" y="3749040"/>
            <a:ext cx="3535680" cy="1463040"/>
          </a:xfrm>
          <a:prstGeom prst="roundRect">
            <a:avLst>
              <a:gd name="adj" fmla="val 6250"/>
            </a:avLst>
          </a:prstGeom>
          <a:solidFill>
            <a:schemeClr val="accent3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45" name="card-text"/>
          <p:cNvSpPr txBox="1"/>
          <p:nvPr/>
        </p:nvSpPr>
        <p:spPr>
          <a:xfrm>
            <a:off x="8049768" y="3749040"/>
            <a:ext cx="3535680" cy="146304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Звідси висновок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Дробове число в пам'яті — майже завжди наближення до справжнього.</a:t>
            </a:r>
            <a:endParaRPr lang="en-US" sz="17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PEER INSTRUCTION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Що виведе програма?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Змінна дробова. Чи врятує це результат?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10972800" cy="979424"/>
          </a:xfrm>
          <a:prstGeom prst="roundRect">
            <a:avLst>
              <a:gd name="adj" fmla="val 746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code"/>
          <p:cNvSpPr txBox="1"/>
          <p:nvPr/>
        </p:nvSpPr>
        <p:spPr>
          <a:xfrm>
            <a:off x="612648" y="1920240"/>
            <a:ext cx="10972800" cy="97942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 share = 8 / 3;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share;</a:t>
            </a:r>
            <a:endParaRPr lang="en-US" sz="2000" dirty="0"/>
          </a:p>
        </p:txBody>
      </p:sp>
      <p:sp>
        <p:nvSpPr>
          <p:cNvPr id="7" name="option-A"/>
          <p:cNvSpPr/>
          <p:nvPr/>
        </p:nvSpPr>
        <p:spPr>
          <a:xfrm>
            <a:off x="612648" y="312826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letter-A"/>
          <p:cNvSpPr/>
          <p:nvPr/>
        </p:nvSpPr>
        <p:spPr>
          <a:xfrm>
            <a:off x="740664" y="329285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40664" y="329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12826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2.66667</a:t>
            </a:r>
            <a:endParaRPr lang="en-US" sz="2000" dirty="0"/>
          </a:p>
        </p:txBody>
      </p:sp>
      <p:sp>
        <p:nvSpPr>
          <p:cNvPr id="11" name="option-B"/>
          <p:cNvSpPr/>
          <p:nvPr/>
        </p:nvSpPr>
        <p:spPr>
          <a:xfrm>
            <a:off x="6190488" y="312826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letter-B"/>
          <p:cNvSpPr/>
          <p:nvPr/>
        </p:nvSpPr>
        <p:spPr>
          <a:xfrm>
            <a:off x="6318504" y="329285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318504" y="329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12826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option-C"/>
          <p:cNvSpPr/>
          <p:nvPr/>
        </p:nvSpPr>
        <p:spPr>
          <a:xfrm>
            <a:off x="612648" y="3987800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letter-C"/>
          <p:cNvSpPr/>
          <p:nvPr/>
        </p:nvSpPr>
        <p:spPr>
          <a:xfrm>
            <a:off x="740664" y="4152392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740664" y="415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39878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option-D"/>
          <p:cNvSpPr/>
          <p:nvPr/>
        </p:nvSpPr>
        <p:spPr>
          <a:xfrm>
            <a:off x="6190488" y="3987800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letter-D"/>
          <p:cNvSpPr/>
          <p:nvPr/>
        </p:nvSpPr>
        <p:spPr>
          <a:xfrm>
            <a:off x="6318504" y="4152392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6318504" y="415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39878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помилка</a:t>
            </a:r>
            <a:endParaRPr lang="en-US" sz="2000" dirty="0"/>
          </a:p>
        </p:txBody>
      </p:sp>
      <p:sp>
        <p:nvSpPr>
          <p:cNvPr id="23" name="card"/>
          <p:cNvSpPr/>
          <p:nvPr/>
        </p:nvSpPr>
        <p:spPr>
          <a:xfrm>
            <a:off x="612648" y="4975352"/>
            <a:ext cx="3535680" cy="536448"/>
          </a:xfrm>
          <a:prstGeom prst="roundRect">
            <a:avLst>
              <a:gd name="adj" fmla="val 17045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4" name="card-text"/>
          <p:cNvSpPr txBox="1"/>
          <p:nvPr/>
        </p:nvSpPr>
        <p:spPr>
          <a:xfrm>
            <a:off x="612648" y="4975352"/>
            <a:ext cx="3535680" cy="5364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 хв — голосуєте самі, мовчки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4331208" y="4975352"/>
            <a:ext cx="3535680" cy="780288"/>
          </a:xfrm>
          <a:prstGeom prst="roundRect">
            <a:avLst>
              <a:gd name="adj" fmla="val 11719"/>
            </a:avLst>
          </a:prstGeom>
          <a:solidFill>
            <a:schemeClr val="accent4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6" name="card-text"/>
          <p:cNvSpPr txBox="1"/>
          <p:nvPr/>
        </p:nvSpPr>
        <p:spPr>
          <a:xfrm>
            <a:off x="4331208" y="4975352"/>
            <a:ext cx="3535680" cy="78028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 хв — переконайте сусіда в чаті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8049768" y="4975352"/>
            <a:ext cx="3535680" cy="536448"/>
          </a:xfrm>
          <a:prstGeom prst="roundRect">
            <a:avLst>
              <a:gd name="adj" fmla="val 17045"/>
            </a:avLst>
          </a:prstGeom>
          <a:solidFill>
            <a:schemeClr val="accent2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8" name="card-text"/>
          <p:cNvSpPr txBox="1"/>
          <p:nvPr/>
        </p:nvSpPr>
        <p:spPr>
          <a:xfrm>
            <a:off x="8049768" y="4975352"/>
            <a:ext cx="3535680" cy="5364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 хв — голосуємо ще раз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ПЕРЕДБАЧТЕ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Що виведе програма?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Голосуйте в опитуванні Teams — до запуску. 1 означає «правда», 0 — «неправда»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10972800" cy="719328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code"/>
          <p:cNvSpPr txBox="1"/>
          <p:nvPr/>
        </p:nvSpPr>
        <p:spPr>
          <a:xfrm>
            <a:off x="612648" y="1920240"/>
            <a:ext cx="10972800" cy="71932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(0.1 + 0.2 == 0.3);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612648" y="2959608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letter-A"/>
          <p:cNvSpPr/>
          <p:nvPr/>
        </p:nvSpPr>
        <p:spPr>
          <a:xfrm>
            <a:off x="740664" y="3124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40664" y="3124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295960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option-B"/>
          <p:cNvSpPr/>
          <p:nvPr/>
        </p:nvSpPr>
        <p:spPr>
          <a:xfrm>
            <a:off x="6190488" y="2959608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letter-B"/>
          <p:cNvSpPr/>
          <p:nvPr/>
        </p:nvSpPr>
        <p:spPr>
          <a:xfrm>
            <a:off x="6318504" y="3124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318504" y="3124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95960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option-C"/>
          <p:cNvSpPr/>
          <p:nvPr/>
        </p:nvSpPr>
        <p:spPr>
          <a:xfrm>
            <a:off x="612648" y="381914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letter-C"/>
          <p:cNvSpPr/>
          <p:nvPr/>
        </p:nvSpPr>
        <p:spPr>
          <a:xfrm>
            <a:off x="740664" y="398373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740664" y="3983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381914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2000" dirty="0"/>
          </a:p>
        </p:txBody>
      </p:sp>
      <p:sp>
        <p:nvSpPr>
          <p:cNvPr id="19" name="option-D"/>
          <p:cNvSpPr/>
          <p:nvPr/>
        </p:nvSpPr>
        <p:spPr>
          <a:xfrm>
            <a:off x="6190488" y="3819144"/>
            <a:ext cx="53949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letter-D"/>
          <p:cNvSpPr/>
          <p:nvPr/>
        </p:nvSpPr>
        <p:spPr>
          <a:xfrm>
            <a:off x="6318504" y="398373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6318504" y="3983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381914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помилка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ЩО МИ ПОБАЧИЛИ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0.1 + 0.2 — це 0.30000000000000004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Різниця крихітна, але для == її досить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10972800" cy="1044448"/>
          </a:xfrm>
          <a:prstGeom prst="roundRect">
            <a:avLst>
              <a:gd name="adj" fmla="val 70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code"/>
          <p:cNvSpPr txBox="1"/>
          <p:nvPr/>
        </p:nvSpPr>
        <p:spPr>
          <a:xfrm>
            <a:off x="612648" y="1920240"/>
            <a:ext cx="10972800" cy="104444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 &lt;&lt; std::setprecision(17)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&lt;&lt; 0.1 + 0.2;     </a:t>
            </a:r>
            <a:r>
              <a:rPr lang="en-US" sz="2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0.30000000000000004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612648" y="3284728"/>
            <a:ext cx="5394960" cy="1371600"/>
          </a:xfrm>
          <a:prstGeom prst="roundRect">
            <a:avLst>
              <a:gd name="adj" fmla="val 6667"/>
            </a:avLst>
          </a:prstGeom>
          <a:solidFill>
            <a:schemeClr val="accent3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card-text"/>
          <p:cNvSpPr txBox="1"/>
          <p:nvPr/>
        </p:nvSpPr>
        <p:spPr>
          <a:xfrm>
            <a:off x="612648" y="3284728"/>
            <a:ext cx="5394960" cy="13716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Не порівнюйте дробові через ==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Два шляхи до «того самого» числа дають різні наближення. Порівняння може не спрацювати.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6190488" y="3284728"/>
            <a:ext cx="5394960" cy="137160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card-text"/>
          <p:cNvSpPr txBox="1"/>
          <p:nvPr/>
        </p:nvSpPr>
        <p:spPr>
          <a:xfrm>
            <a:off x="6190488" y="3284728"/>
            <a:ext cx="5394960" cy="13716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Де що брати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double — для вимірювань: температура, відстань, напруга. Лічильники й штуки — цілі типи.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ОБРІЗАННЯ Й ОКРУГЛЕННЯ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Перетворення в ціле відкидає дробову частину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Так само, як на Ванкуверській біржі</a:t>
            </a:r>
            <a:endParaRPr lang="en-US" sz="1500" dirty="0"/>
          </a:p>
        </p:txBody>
      </p:sp>
      <p:sp>
        <p:nvSpPr>
          <p:cNvPr id="5" name="code-panel"/>
          <p:cNvSpPr/>
          <p:nvPr/>
        </p:nvSpPr>
        <p:spPr>
          <a:xfrm>
            <a:off x="612648" y="1920240"/>
            <a:ext cx="6858000" cy="2182368"/>
          </a:xfrm>
          <a:prstGeom prst="roundRect">
            <a:avLst>
              <a:gd name="adj" fmla="val 335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code"/>
          <p:cNvSpPr txBox="1"/>
          <p:nvPr/>
        </p:nvSpPr>
        <p:spPr>
          <a:xfrm>
            <a:off x="612648" y="1920240"/>
            <a:ext cx="6858000" cy="2182368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static_cast&lt;int&gt;(2.99)      </a:t>
            </a:r>
            <a:r>
              <a:rPr lang="en-US" sz="1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2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std::lround(2.99)           </a:t>
            </a:r>
            <a:r>
              <a:rPr lang="en-US" sz="1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 sum = 0.29;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static_cast&lt;int&gt;(sum * 100) </a:t>
            </a:r>
            <a:r>
              <a:rPr lang="en-US" sz="1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28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std::lround(sum * 100)      </a:t>
            </a:r>
            <a:r>
              <a:rPr lang="en-US" sz="1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29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7744968" y="1920240"/>
            <a:ext cx="3840480" cy="1355344"/>
          </a:xfrm>
          <a:prstGeom prst="roundRect">
            <a:avLst>
              <a:gd name="adj" fmla="val 6747"/>
            </a:avLst>
          </a:prstGeom>
          <a:solidFill>
            <a:schemeClr val="accent3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card-text"/>
          <p:cNvSpPr txBox="1"/>
          <p:nvPr/>
        </p:nvSpPr>
        <p:spPr>
          <a:xfrm>
            <a:off x="7744968" y="1920240"/>
            <a:ext cx="3840480" cy="135534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Чому 28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0.29 × 100 у пам'яті — це 28.999999999999996. Обрізання забирає майже цілу копійку.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7744968" y="3458464"/>
            <a:ext cx="3840480" cy="1111504"/>
          </a:xfrm>
          <a:prstGeom prst="roundRect">
            <a:avLst>
              <a:gd name="adj" fmla="val 8227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0" name="card-text"/>
          <p:cNvSpPr txBox="1"/>
          <p:nvPr/>
        </p:nvSpPr>
        <p:spPr>
          <a:xfrm>
            <a:off x="7744968" y="3458464"/>
            <a:ext cx="384048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Округлення — явно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std::lround з &lt;cmath&gt; округлює до найближчого цілого.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ЗАДАЧА ТИЖНЯ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Два рівні — оберіть свій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Дедлайн — початок заняття 3. Зараховується будь-який рівень</a:t>
            </a:r>
            <a:endParaRPr lang="en-US" sz="1500" dirty="0"/>
          </a:p>
        </p:txBody>
      </p:sp>
      <p:sp>
        <p:nvSpPr>
          <p:cNvPr id="5" name="pset-card"/>
          <p:cNvSpPr/>
          <p:nvPr/>
        </p:nvSpPr>
        <p:spPr>
          <a:xfrm>
            <a:off x="612648" y="1920240"/>
            <a:ext cx="5349240" cy="2240280"/>
          </a:xfrm>
          <a:prstGeom prst="roundRect">
            <a:avLst>
              <a:gd name="adj" fmla="val 4082"/>
            </a:avLst>
          </a:prstGeom>
          <a:solidFill>
            <a:schemeClr val="accent2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ДЛЯ ТИХ, ХТО ПОЧИНАЄ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Рахунок · task_2g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077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Сума рахунку, відсоток чайових і кількість людей → скільки платить кожен, до копійки.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 10 3  →  165.00</a:t>
            </a:r>
            <a:endParaRPr lang="en-US" sz="1400" dirty="0"/>
          </a:p>
        </p:txBody>
      </p:sp>
      <p:sp>
        <p:nvSpPr>
          <p:cNvPr id="10" name="pset-card"/>
          <p:cNvSpPr/>
          <p:nvPr/>
        </p:nvSpPr>
        <p:spPr>
          <a:xfrm>
            <a:off x="6236208" y="1920240"/>
            <a:ext cx="5349240" cy="2240280"/>
          </a:xfrm>
          <a:prstGeom prst="roundRect">
            <a:avLst>
              <a:gd name="adj" fmla="val 4082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6464808" y="21031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ДЛЯ ТИХ, ХТО ВЖЕ ВМІЄ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Решта · task_2h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9077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Ціна покупки й сума, яку дав покупець → решта в гривнях і копійках.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12.50 20  →  7 грн 50 коп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" y="4434840"/>
            <a:ext cx="10972800" cy="1111504"/>
          </a:xfrm>
          <a:prstGeom prst="roundRect">
            <a:avLst>
              <a:gd name="adj" fmla="val 8227"/>
            </a:avLst>
          </a:prstGeom>
          <a:solidFill>
            <a:schemeClr val="accent4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card-text"/>
          <p:cNvSpPr txBox="1"/>
          <p:nvPr/>
        </p:nvSpPr>
        <p:spPr>
          <a:xfrm>
            <a:off x="612648" y="4434840"/>
            <a:ext cx="10972800" cy="1111504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Як знати, що розв'язок правильний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Кожна умова має таблицю тестів. Програма правильна, коли її вивід збігається з очікуваним посимвольно — для кожного рядка таблиці.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ПОЧНІМО РАЗОМ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Перший крок задачі «Рахунок»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Спершу кроки словами, потім код</a:t>
            </a:r>
            <a:endParaRPr lang="en-US" sz="1500" dirty="0"/>
          </a:p>
        </p:txBody>
      </p:sp>
      <p:sp>
        <p:nvSpPr>
          <p:cNvPr id="5" name="pseudo-panel"/>
          <p:cNvSpPr/>
          <p:nvPr/>
        </p:nvSpPr>
        <p:spPr>
          <a:xfrm>
            <a:off x="612648" y="1920240"/>
            <a:ext cx="448056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Псевдокод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87168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зчитати суму, відсоток і кількість людей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порахувати суму з чайовими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поділити на кількість людей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вивести з двома знаками</a:t>
            </a:r>
            <a:endParaRPr lang="en-US" sz="1500" dirty="0"/>
          </a:p>
        </p:txBody>
      </p:sp>
      <p:sp>
        <p:nvSpPr>
          <p:cNvPr id="8" name="code-panel"/>
          <p:cNvSpPr/>
          <p:nvPr/>
        </p:nvSpPr>
        <p:spPr>
          <a:xfrm>
            <a:off x="5367528" y="1920240"/>
            <a:ext cx="6217920" cy="2409952"/>
          </a:xfrm>
          <a:prstGeom prst="roundRect">
            <a:avLst>
              <a:gd name="adj" fmla="val 303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code"/>
          <p:cNvSpPr txBox="1"/>
          <p:nvPr/>
        </p:nvSpPr>
        <p:spPr>
          <a:xfrm>
            <a:off x="5367528" y="1920240"/>
            <a:ext cx="6217920" cy="2409952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 amount = 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tip = 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 people = 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std::cin &gt;&gt; amount &gt;&gt; tip &gt;&gt; people;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 total = amount * (100 + tip) / 100;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далі — самостійно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12648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ВИХІДНИЙ КВИТОК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12648" y="7315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1"/>
                </a:solidFill>
              </a:rPr>
              <a:t>Два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en-US" sz="3000" b="1" dirty="0" err="1">
                <a:solidFill>
                  <a:schemeClr val="tx1"/>
                </a:solidFill>
              </a:rPr>
              <a:t>питання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12648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Відповіді визначають, з чого почнеться наступне заняття</a:t>
            </a:r>
            <a:endParaRPr lang="en-US" sz="1500" dirty="0"/>
          </a:p>
        </p:txBody>
      </p:sp>
      <p:sp>
        <p:nvSpPr>
          <p:cNvPr id="5" name="q1"/>
          <p:cNvSpPr/>
          <p:nvPr/>
        </p:nvSpPr>
        <p:spPr>
          <a:xfrm>
            <a:off x="612648" y="1920240"/>
            <a:ext cx="534924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· Що виведе програма?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60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std::cout &lt;&lt; static_cast&lt;int&gt;(3.99);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36208" y="1920240"/>
            <a:ext cx="534924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9" name="card-text"/>
          <p:cNvSpPr txBox="1"/>
          <p:nvPr/>
        </p:nvSpPr>
        <p:spPr>
          <a:xfrm>
            <a:off x="6236208" y="1920240"/>
            <a:ext cx="5349240" cy="128016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2 · Відкрите питання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Що сьогодні було найменш зрозумілим?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2648" y="3520440"/>
            <a:ext cx="10972800" cy="585216"/>
          </a:xfrm>
          <a:prstGeom prst="roundRect">
            <a:avLst>
              <a:gd name="adj" fmla="val 15625"/>
            </a:avLst>
          </a:prstGeom>
          <a:solidFill>
            <a:schemeClr val="accent2">
              <a:alpha val="12000"/>
            </a:schemeClr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1" name="card-text"/>
          <p:cNvSpPr txBox="1"/>
          <p:nvPr/>
        </p:nvSpPr>
        <p:spPr>
          <a:xfrm>
            <a:off x="612648" y="3520440"/>
            <a:ext cx="10972800" cy="585216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Наступне заняття: програма вибирає шлях — умови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12648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и C++">
  <a:themeElements>
    <a:clrScheme name="Основи C++">
      <a:dk1>
        <a:srgbClr val="172033"/>
      </a:dk1>
      <a:lt1>
        <a:srgbClr val="FFFFFF"/>
      </a:lt1>
      <a:dk2>
        <a:srgbClr val="5A677D"/>
      </a:dk2>
      <a:lt2>
        <a:srgbClr val="F7F9FC"/>
      </a:lt2>
      <a:accent1>
        <a:srgbClr val="2563EB"/>
      </a:accent1>
      <a:accent2>
        <a:srgbClr val="047857"/>
      </a:accent2>
      <a:accent3>
        <a:srgbClr val="B45309"/>
      </a:accent3>
      <a:accent4>
        <a:srgbClr val="6D28D9"/>
      </a:accent4>
      <a:accent5>
        <a:srgbClr val="1E40AF"/>
      </a:accent5>
      <a:accent6>
        <a:srgbClr val="D7DEE8"/>
      </a:accent6>
      <a:hlink>
        <a:srgbClr val="2563EB"/>
      </a:hlink>
      <a:folHlink>
        <a:srgbClr val="6D28D9"/>
      </a:folHlink>
    </a:clrScheme>
    <a:fontScheme name="Основи C++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1455</Words>
  <Application>Microsoft Macintosh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Основи C++</vt:lpstr>
      <vt:lpstr>Як комп'ютер ділить</vt:lpstr>
      <vt:lpstr>Одна ідея за 60 хвилин</vt:lpstr>
      <vt:lpstr>/ дає цілу частину, % — остачу</vt:lpstr>
      <vt:lpstr>Шість знаків не вміщують одну третю</vt:lpstr>
      <vt:lpstr>Що виведе програма?</vt:lpstr>
      <vt:lpstr>Що виведе програма?</vt:lpstr>
      <vt:lpstr>0.1 + 0.2 — це 0.30000000000000004</vt:lpstr>
      <vt:lpstr>Перетворення в ціле відкидає дробову частину</vt:lpstr>
      <vt:lpstr>Два рівні — оберіть свій</vt:lpstr>
      <vt:lpstr>Перший крок задачі «Рахунок»</vt:lpstr>
      <vt:lpstr>Два питання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· Заняття 2</dc:title>
  <dc:subject>PptxGenJS Presentation</dc:subject>
  <dc:creator>PptxGenJS</dc:creator>
  <cp:lastModifiedBy>Михайло Володимирович Гулевич</cp:lastModifiedBy>
  <cp:revision>3</cp:revision>
  <dcterms:created xsi:type="dcterms:W3CDTF">2026-10-10T06:23:01Z</dcterms:created>
  <dcterms:modified xsi:type="dcterms:W3CDTF">2026-10-10T06:29:58Z</dcterms:modified>
</cp:coreProperties>
</file>